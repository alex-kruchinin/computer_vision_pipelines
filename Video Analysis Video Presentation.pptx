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0" i="0" strike="noStrike" sz="1400" u="none">
                <a:solidFill>
                  <a:srgbClr val="595959"/>
                </a:solidFill>
                <a:latin typeface="Aptos"/>
              </a:defRPr>
            </a:pPr>
            <a:r>
              <a:rPr b="0" i="0" strike="noStrike" sz="1400" u="none">
                <a:solidFill>
                  <a:srgbClr val="595959"/>
                </a:solidFill>
                <a:latin typeface="Aptos"/>
              </a:rPr>
              <a:t>Accuracy over K-NN</a:t>
            </a:r>
          </a:p>
        </c:rich>
      </c:tx>
      <c:layout>
        <c:manualLayout>
          <c:xMode val="edge"/>
          <c:yMode val="edge"/>
          <c:x val="0.352697"/>
          <c:y val="0"/>
          <c:w val="0.294606"/>
          <c:h val="0.148018"/>
        </c:manualLayout>
      </c:layout>
      <c:overlay val="1"/>
      <c:spPr>
        <a:noFill/>
        <a:effectLst/>
      </c:spPr>
    </c:title>
    <c:autoTitleDeleted val="1"/>
    <c:plotArea>
      <c:layout>
        <c:manualLayout>
          <c:layoutTarget val="inner"/>
          <c:xMode val="edge"/>
          <c:yMode val="edge"/>
          <c:x val="0.147597"/>
          <c:y val="0.148018"/>
          <c:w val="0.847403"/>
          <c:h val="0.672963"/>
        </c:manualLayout>
      </c:layout>
      <c:lineChart>
        <c:grouping val="standard"/>
        <c:varyColors val="0"/>
        <c:ser>
          <c:idx val="0"/>
          <c:order val="0"/>
          <c:tx>
            <c:strRef>
              <c:f>Sheet1!$A$2</c:f>
              <c:strCache>
                <c:ptCount val="1"/>
                <c:pt idx="0">
                  <c:v>Accuracy</c:v>
                </c:pt>
              </c:strCache>
            </c:strRef>
          </c:tx>
          <c:spPr>
            <a:noFill/>
            <a:ln w="28575" cap="rnd">
              <a:solidFill>
                <a:schemeClr val="accent1"/>
              </a:solidFill>
              <a:prstDash val="solid"/>
              <a:round/>
            </a:ln>
            <a:effectLst/>
          </c:spPr>
          <c:marker>
            <c:symbol val="none"/>
            <c:size val="4"/>
            <c:spPr>
              <a:noFill/>
              <a:ln w="28575" cap="rnd">
                <a:solidFill>
                  <a:schemeClr val="accent1"/>
                </a:solidFill>
                <a:prstDash val="solid"/>
                <a:round/>
              </a:ln>
              <a:effectLst/>
            </c:spPr>
          </c:marker>
          <c:dLbls>
            <c:numFmt formatCode="0.00%" sourceLinked="0"/>
            <c:txPr>
              <a:bodyPr/>
              <a:lstStyle/>
              <a:p>
                <a:pPr>
                  <a:defRPr b="0" i="0" strike="noStrike" sz="1000" u="none">
                    <a:solidFill>
                      <a:srgbClr val="000000"/>
                    </a:solidFill>
                    <a:latin typeface="Aptos"/>
                  </a:defRPr>
                </a:pPr>
              </a:p>
            </c:txPr>
            <c:dLblPos val="t"/>
            <c:showLegendKey val="0"/>
            <c:showVal val="0"/>
            <c:showCatName val="0"/>
            <c:showSerName val="0"/>
            <c:showPercent val="0"/>
            <c:showBubbleSize val="0"/>
            <c:showLeaderLines val="0"/>
          </c:dLbls>
          <c:cat>
            <c:strRef>
              <c:f>Sheet1!$B$1:$CM$1</c:f>
              <c:strCache>
                <c:ptCount val="9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strCache>
            </c:strRef>
          </c:cat>
          <c:val>
            <c:numRef>
              <c:f>Sheet1!$B$2:$CM$2</c:f>
              <c:numCache>
                <c:ptCount val="90"/>
                <c:pt idx="0">
                  <c:v>0.508300</c:v>
                </c:pt>
                <c:pt idx="1">
                  <c:v>0.466700</c:v>
                </c:pt>
                <c:pt idx="2">
                  <c:v>0.608300</c:v>
                </c:pt>
                <c:pt idx="3">
                  <c:v>0.541700</c:v>
                </c:pt>
                <c:pt idx="4">
                  <c:v>0.650000</c:v>
                </c:pt>
                <c:pt idx="5">
                  <c:v>0.616700</c:v>
                </c:pt>
                <c:pt idx="6">
                  <c:v>0.650000</c:v>
                </c:pt>
                <c:pt idx="7">
                  <c:v>0.641700</c:v>
                </c:pt>
                <c:pt idx="8">
                  <c:v>0.691700</c:v>
                </c:pt>
                <c:pt idx="9">
                  <c:v>0.675000</c:v>
                </c:pt>
                <c:pt idx="10">
                  <c:v>0.733300</c:v>
                </c:pt>
                <c:pt idx="11">
                  <c:v>0.716700</c:v>
                </c:pt>
                <c:pt idx="12">
                  <c:v>0.766700</c:v>
                </c:pt>
                <c:pt idx="13">
                  <c:v>0.733300</c:v>
                </c:pt>
                <c:pt idx="14">
                  <c:v>0.775000</c:v>
                </c:pt>
                <c:pt idx="15">
                  <c:v>0.766700</c:v>
                </c:pt>
                <c:pt idx="16">
                  <c:v>0.808300</c:v>
                </c:pt>
                <c:pt idx="17">
                  <c:v>0.783300</c:v>
                </c:pt>
                <c:pt idx="18">
                  <c:v>0.825000</c:v>
                </c:pt>
                <c:pt idx="19">
                  <c:v>0.841700</c:v>
                </c:pt>
                <c:pt idx="20">
                  <c:v>0.875000</c:v>
                </c:pt>
                <c:pt idx="21">
                  <c:v>0.875000</c:v>
                </c:pt>
                <c:pt idx="22">
                  <c:v>0.875000</c:v>
                </c:pt>
                <c:pt idx="23">
                  <c:v>0.883300</c:v>
                </c:pt>
                <c:pt idx="24">
                  <c:v>0.883300</c:v>
                </c:pt>
                <c:pt idx="25">
                  <c:v>0.891700</c:v>
                </c:pt>
                <c:pt idx="26">
                  <c:v>0.883300</c:v>
                </c:pt>
                <c:pt idx="27">
                  <c:v>0.891700</c:v>
                </c:pt>
                <c:pt idx="28">
                  <c:v>0.883300</c:v>
                </c:pt>
                <c:pt idx="29">
                  <c:v>0.891700</c:v>
                </c:pt>
                <c:pt idx="30">
                  <c:v>0.891700</c:v>
                </c:pt>
                <c:pt idx="31">
                  <c:v>0.900000</c:v>
                </c:pt>
                <c:pt idx="32">
                  <c:v>0.883300</c:v>
                </c:pt>
                <c:pt idx="33">
                  <c:v>0.883300</c:v>
                </c:pt>
                <c:pt idx="34">
                  <c:v>0.891700</c:v>
                </c:pt>
                <c:pt idx="35">
                  <c:v>0.891700</c:v>
                </c:pt>
                <c:pt idx="36">
                  <c:v>0.900000</c:v>
                </c:pt>
                <c:pt idx="37">
                  <c:v>0.900000</c:v>
                </c:pt>
                <c:pt idx="38">
                  <c:v>0.900000</c:v>
                </c:pt>
                <c:pt idx="39">
                  <c:v>0.908300</c:v>
                </c:pt>
                <c:pt idx="40">
                  <c:v>0.900000</c:v>
                </c:pt>
                <c:pt idx="41">
                  <c:v>0.908300</c:v>
                </c:pt>
                <c:pt idx="42">
                  <c:v>0.891700</c:v>
                </c:pt>
                <c:pt idx="43">
                  <c:v>0.900000</c:v>
                </c:pt>
                <c:pt idx="44">
                  <c:v>0.891700</c:v>
                </c:pt>
                <c:pt idx="45">
                  <c:v>0.891700</c:v>
                </c:pt>
                <c:pt idx="46">
                  <c:v>0.891700</c:v>
                </c:pt>
                <c:pt idx="47">
                  <c:v>0.891700</c:v>
                </c:pt>
                <c:pt idx="48">
                  <c:v>0.891700</c:v>
                </c:pt>
                <c:pt idx="49">
                  <c:v>0.891700</c:v>
                </c:pt>
                <c:pt idx="50">
                  <c:v>0.891700</c:v>
                </c:pt>
                <c:pt idx="51">
                  <c:v>0.900000</c:v>
                </c:pt>
                <c:pt idx="52">
                  <c:v>0.900000</c:v>
                </c:pt>
                <c:pt idx="53">
                  <c:v>0.900000</c:v>
                </c:pt>
                <c:pt idx="54">
                  <c:v>0.900000</c:v>
                </c:pt>
                <c:pt idx="55">
                  <c:v>0.900000</c:v>
                </c:pt>
                <c:pt idx="56">
                  <c:v>0.900000</c:v>
                </c:pt>
                <c:pt idx="57">
                  <c:v>0.900000</c:v>
                </c:pt>
                <c:pt idx="58">
                  <c:v>0.900000</c:v>
                </c:pt>
                <c:pt idx="59">
                  <c:v>0.908300</c:v>
                </c:pt>
                <c:pt idx="60">
                  <c:v>0.900000</c:v>
                </c:pt>
                <c:pt idx="61">
                  <c:v>0.908300</c:v>
                </c:pt>
                <c:pt idx="62">
                  <c:v>0.900000</c:v>
                </c:pt>
                <c:pt idx="63">
                  <c:v>0.908300</c:v>
                </c:pt>
                <c:pt idx="64">
                  <c:v>0.900000</c:v>
                </c:pt>
                <c:pt idx="65">
                  <c:v>0.900000</c:v>
                </c:pt>
                <c:pt idx="66">
                  <c:v>0.900000</c:v>
                </c:pt>
                <c:pt idx="67">
                  <c:v>0.908300</c:v>
                </c:pt>
                <c:pt idx="68">
                  <c:v>0.883300</c:v>
                </c:pt>
                <c:pt idx="69">
                  <c:v>0.875000</c:v>
                </c:pt>
                <c:pt idx="70">
                  <c:v>0.875000</c:v>
                </c:pt>
                <c:pt idx="71">
                  <c:v>0.875000</c:v>
                </c:pt>
                <c:pt idx="72">
                  <c:v>0.883300</c:v>
                </c:pt>
                <c:pt idx="73">
                  <c:v>0.891700</c:v>
                </c:pt>
                <c:pt idx="74">
                  <c:v>0.883300</c:v>
                </c:pt>
                <c:pt idx="75">
                  <c:v>0.883300</c:v>
                </c:pt>
                <c:pt idx="76">
                  <c:v>0.883300</c:v>
                </c:pt>
                <c:pt idx="77">
                  <c:v>0.891700</c:v>
                </c:pt>
                <c:pt idx="78">
                  <c:v>0.875000</c:v>
                </c:pt>
                <c:pt idx="79">
                  <c:v>0.875000</c:v>
                </c:pt>
                <c:pt idx="80">
                  <c:v>0.866700</c:v>
                </c:pt>
                <c:pt idx="81">
                  <c:v>0.866700</c:v>
                </c:pt>
                <c:pt idx="82">
                  <c:v>0.866700</c:v>
                </c:pt>
                <c:pt idx="83">
                  <c:v>0.866700</c:v>
                </c:pt>
                <c:pt idx="84">
                  <c:v>0.858300</c:v>
                </c:pt>
                <c:pt idx="85">
                  <c:v>0.858300</c:v>
                </c:pt>
                <c:pt idx="86">
                  <c:v>0.850000</c:v>
                </c:pt>
                <c:pt idx="87">
                  <c:v>0.850000</c:v>
                </c:pt>
                <c:pt idx="88">
                  <c:v>0.841700</c:v>
                </c:pt>
                <c:pt idx="89">
                  <c:v>0.841700</c:v>
                </c:pt>
              </c:numCache>
            </c:numRef>
          </c:val>
          <c:smooth val="0"/>
        </c:ser>
        <c:marker val="1"/>
        <c:axId val="2094734552"/>
        <c:axId val="2094734553"/>
      </c:lineChart>
      <c:catAx>
        <c:axId val="2094734552"/>
        <c:scaling>
          <c:orientation val="minMax"/>
        </c:scaling>
        <c:delete val="0"/>
        <c:axPos val="b"/>
        <c:title>
          <c:tx>
            <c:rich>
              <a:bodyPr rot="0"/>
              <a:lstStyle/>
              <a:p>
                <a:pPr>
                  <a:defRPr b="0" i="0" strike="noStrike" sz="1000" u="none">
                    <a:solidFill>
                      <a:srgbClr val="595959"/>
                    </a:solidFill>
                    <a:latin typeface="Aptos"/>
                  </a:defRPr>
                </a:pPr>
                <a:r>
                  <a:rPr b="0" i="0" strike="noStrike" sz="1000" u="none">
                    <a:solidFill>
                      <a:srgbClr val="595959"/>
                    </a:solidFill>
                    <a:latin typeface="Aptos"/>
                  </a:rPr>
                  <a:t>K</a:t>
                </a:r>
              </a:p>
            </c:rich>
          </c:tx>
          <c:layout/>
          <c:overlay val="1"/>
        </c:title>
        <c:numFmt formatCode="General" sourceLinked="0"/>
        <c:majorTickMark val="none"/>
        <c:minorTickMark val="none"/>
        <c:tickLblPos val="low"/>
        <c:spPr>
          <a:ln w="12700" cap="flat">
            <a:solidFill>
              <a:srgbClr val="D9D9D9"/>
            </a:solidFill>
            <a:prstDash val="solid"/>
            <a:round/>
          </a:ln>
        </c:spPr>
        <c:txPr>
          <a:bodyPr rot="0"/>
          <a:lstStyle/>
          <a:p>
            <a:pPr>
              <a:defRPr b="0" i="0" strike="noStrike" sz="900" u="none">
                <a:solidFill>
                  <a:srgbClr val="595959"/>
                </a:solidFill>
                <a:latin typeface="Aptos"/>
              </a:defRPr>
            </a:pPr>
          </a:p>
        </c:txPr>
        <c:crossAx val="2094734553"/>
        <c:crosses val="autoZero"/>
        <c:auto val="1"/>
        <c:lblAlgn val="ctr"/>
        <c:noMultiLvlLbl val="1"/>
      </c:catAx>
      <c:valAx>
        <c:axId val="2094734553"/>
        <c:scaling>
          <c:orientation val="minMax"/>
        </c:scaling>
        <c:delete val="0"/>
        <c:axPos val="l"/>
        <c:majorGridlines>
          <c:spPr>
            <a:ln w="12700" cap="flat">
              <a:solidFill>
                <a:srgbClr val="D9D9D9"/>
              </a:solidFill>
              <a:prstDash val="solid"/>
              <a:round/>
            </a:ln>
          </c:spPr>
        </c:majorGridlines>
        <c:title>
          <c:tx>
            <c:rich>
              <a:bodyPr rot="-5400000"/>
              <a:lstStyle/>
              <a:p>
                <a:pPr>
                  <a:defRPr b="0" i="0" strike="noStrike" sz="1000" u="none">
                    <a:solidFill>
                      <a:srgbClr val="595959"/>
                    </a:solidFill>
                    <a:latin typeface="Aptos"/>
                  </a:defRPr>
                </a:pPr>
                <a:r>
                  <a:rPr b="0" i="0" strike="noStrike" sz="1000" u="none">
                    <a:solidFill>
                      <a:srgbClr val="595959"/>
                    </a:solidFill>
                    <a:latin typeface="Aptos"/>
                  </a:rPr>
                  <a:t>Accuracy</a:t>
                </a:r>
              </a:p>
            </c:rich>
          </c:tx>
          <c:layout/>
          <c:overlay val="1"/>
        </c:title>
        <c:numFmt formatCode="0.00%" sourceLinked="0"/>
        <c:majorTickMark val="none"/>
        <c:minorTickMark val="none"/>
        <c:tickLblPos val="nextTo"/>
        <c:spPr>
          <a:ln w="12700" cap="flat">
            <a:noFill/>
            <a:prstDash val="solid"/>
            <a:round/>
          </a:ln>
        </c:spPr>
        <c:txPr>
          <a:bodyPr rot="0"/>
          <a:lstStyle/>
          <a:p>
            <a:pPr>
              <a:defRPr b="0" i="0" strike="noStrike" sz="900" u="none">
                <a:solidFill>
                  <a:srgbClr val="595959"/>
                </a:solidFill>
                <a:latin typeface="Aptos"/>
              </a:defRPr>
            </a:pPr>
          </a:p>
        </c:txPr>
        <c:crossAx val="2094734552"/>
        <c:crosses val="autoZero"/>
        <c:crossBetween val="between"/>
        <c:majorUnit val="0.25"/>
        <c:minorUnit val="0.125"/>
      </c:valAx>
      <c:spPr>
        <a:noFill/>
        <a:ln w="12700" cap="flat">
          <a:noFill/>
          <a:miter lim="400000"/>
        </a:ln>
        <a:effectLst/>
      </c:spPr>
    </c:plotArea>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ptos"/>
      </a:defRPr>
    </a:lvl1pPr>
    <a:lvl2pPr indent="228600" latinLnBrk="0">
      <a:defRPr sz="1200">
        <a:latin typeface="+mj-lt"/>
        <a:ea typeface="+mj-ea"/>
        <a:cs typeface="+mj-cs"/>
        <a:sym typeface="Aptos"/>
      </a:defRPr>
    </a:lvl2pPr>
    <a:lvl3pPr indent="457200" latinLnBrk="0">
      <a:defRPr sz="1200">
        <a:latin typeface="+mj-lt"/>
        <a:ea typeface="+mj-ea"/>
        <a:cs typeface="+mj-cs"/>
        <a:sym typeface="Aptos"/>
      </a:defRPr>
    </a:lvl3pPr>
    <a:lvl4pPr indent="685800" latinLnBrk="0">
      <a:defRPr sz="1200">
        <a:latin typeface="+mj-lt"/>
        <a:ea typeface="+mj-ea"/>
        <a:cs typeface="+mj-cs"/>
        <a:sym typeface="Aptos"/>
      </a:defRPr>
    </a:lvl4pPr>
    <a:lvl5pPr indent="914400" latinLnBrk="0">
      <a:defRPr sz="1200">
        <a:latin typeface="+mj-lt"/>
        <a:ea typeface="+mj-ea"/>
        <a:cs typeface="+mj-cs"/>
        <a:sym typeface="Aptos"/>
      </a:defRPr>
    </a:lvl5pPr>
    <a:lvl6pPr indent="1143000" latinLnBrk="0">
      <a:defRPr sz="1200">
        <a:latin typeface="+mj-lt"/>
        <a:ea typeface="+mj-ea"/>
        <a:cs typeface="+mj-cs"/>
        <a:sym typeface="Aptos"/>
      </a:defRPr>
    </a:lvl6pPr>
    <a:lvl7pPr indent="1371600" latinLnBrk="0">
      <a:defRPr sz="1200">
        <a:latin typeface="+mj-lt"/>
        <a:ea typeface="+mj-ea"/>
        <a:cs typeface="+mj-cs"/>
        <a:sym typeface="Aptos"/>
      </a:defRPr>
    </a:lvl7pPr>
    <a:lvl8pPr indent="1600200" latinLnBrk="0">
      <a:defRPr sz="1200">
        <a:latin typeface="+mj-lt"/>
        <a:ea typeface="+mj-ea"/>
        <a:cs typeface="+mj-cs"/>
        <a:sym typeface="Aptos"/>
      </a:defRPr>
    </a:lvl8pPr>
    <a:lvl9pPr indent="1828800" latinLnBrk="0">
      <a:defRPr sz="1200">
        <a:latin typeface="+mj-lt"/>
        <a:ea typeface="+mj-ea"/>
        <a:cs typeface="+mj-cs"/>
        <a:sym typeface="Aptos"/>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831850" y="4589462"/>
            <a:ext cx="10515600" cy="1500188"/>
          </a:xfrm>
          <a:prstGeom prst="rect">
            <a:avLst/>
          </a:prstGeom>
        </p:spPr>
        <p:txBody>
          <a:bodyPr/>
          <a:lstStyle>
            <a:lvl1pPr marL="0" indent="0">
              <a:buSzTx/>
              <a:buFontTx/>
              <a:buNone/>
              <a:defRPr sz="2400">
                <a:solidFill>
                  <a:srgbClr val="757575"/>
                </a:solidFill>
              </a:defRPr>
            </a:lvl1pPr>
            <a:lvl2pPr marL="0" indent="457200">
              <a:buSzTx/>
              <a:buFontTx/>
              <a:buNone/>
              <a:defRPr sz="2400">
                <a:solidFill>
                  <a:srgbClr val="757575"/>
                </a:solidFill>
              </a:defRPr>
            </a:lvl2pPr>
            <a:lvl3pPr marL="0" indent="914400">
              <a:buSzTx/>
              <a:buFontTx/>
              <a:buNone/>
              <a:defRPr sz="2400">
                <a:solidFill>
                  <a:srgbClr val="757575"/>
                </a:solidFill>
              </a:defRPr>
            </a:lvl3pPr>
            <a:lvl4pPr marL="0" indent="1371600">
              <a:buSzTx/>
              <a:buFontTx/>
              <a:buNone/>
              <a:defRPr sz="2400">
                <a:solidFill>
                  <a:srgbClr val="757575"/>
                </a:solidFill>
              </a:defRPr>
            </a:lvl4pPr>
            <a:lvl5pPr marL="0" indent="1828800">
              <a:buSzTx/>
              <a:buFontTx/>
              <a:buNone/>
              <a:defRPr sz="2400">
                <a:solidFill>
                  <a:srgbClr val="757575"/>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839787" y="365125"/>
            <a:ext cx="10515601" cy="1325563"/>
          </a:xfrm>
          <a:prstGeom prst="rect">
            <a:avLst/>
          </a:prstGeom>
        </p:spPr>
        <p:txBody>
          <a:bodyPr/>
          <a:lstStyle/>
          <a:p>
            <a:pPr/>
            <a:r>
              <a:t>Title Text</a:t>
            </a:r>
          </a:p>
        </p:txBody>
      </p:sp>
      <p:sp>
        <p:nvSpPr>
          <p:cNvPr id="48" name="Body Level One…"/>
          <p:cNvSpPr txBox="1"/>
          <p:nvPr>
            <p:ph type="body" sz="quarter" idx="1"/>
          </p:nvPr>
        </p:nvSpPr>
        <p:spPr>
          <a:xfrm>
            <a:off x="839787"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6172200" y="1681163"/>
            <a:ext cx="5183188" cy="823913"/>
          </a:xfrm>
          <a:prstGeom prst="rect">
            <a:avLst/>
          </a:prstGeom>
        </p:spPr>
        <p:txBody>
          <a:bodyPr anchor="b"/>
          <a:lstStyle/>
          <a:p>
            <a:pPr marL="0" indent="0">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839787" y="2057400"/>
            <a:ext cx="3932239" cy="3811588"/>
          </a:xfrm>
          <a:prstGeom prst="rect">
            <a:avLst/>
          </a:prstGeom>
        </p:spPr>
        <p:txBody>
          <a:bodyPr/>
          <a:lstStyle/>
          <a:p>
            <a:pPr marL="0" indent="0">
              <a:buSzTx/>
              <a:buFontTx/>
              <a:buNone/>
              <a:defRPr sz="16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5183187" y="987425"/>
            <a:ext cx="6172201" cy="4873625"/>
          </a:xfrm>
          <a:prstGeom prst="rect">
            <a:avLst/>
          </a:prstGeom>
        </p:spPr>
        <p:txBody>
          <a:bodyPr lIns="91439" rIns="91439">
            <a:noAutofit/>
          </a:bodyPr>
          <a:lstStyle/>
          <a:p>
            <a:pPr/>
          </a:p>
        </p:txBody>
      </p:sp>
      <p:sp>
        <p:nvSpPr>
          <p:cNvPr id="84" name="Body Level One…"/>
          <p:cNvSpPr txBox="1"/>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80144" y="6404292"/>
            <a:ext cx="273657" cy="269241"/>
          </a:xfrm>
          <a:prstGeom prst="rect">
            <a:avLst/>
          </a:prstGeom>
          <a:ln w="12700">
            <a:miter lim="400000"/>
          </a:ln>
        </p:spPr>
        <p:txBody>
          <a:bodyPr wrap="none" lIns="45719" rIns="45719" anchor="ctr">
            <a:spAutoFit/>
          </a:bodyPr>
          <a:lstStyle>
            <a:lvl1pPr algn="r">
              <a:defRPr sz="1200">
                <a:solidFill>
                  <a:srgbClr val="757575"/>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image" Target="../media/image34.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42.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image" Target="../media/image56.png"/><Relationship Id="rId10" Type="http://schemas.openxmlformats.org/officeDocument/2006/relationships/image" Target="../media/image57.png"/><Relationship Id="rId11" Type="http://schemas.openxmlformats.org/officeDocument/2006/relationships/image" Target="../media/image58.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image" Target="../media/image65.png"/><Relationship Id="rId9" Type="http://schemas.openxmlformats.org/officeDocument/2006/relationships/image" Target="../media/image66.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image" Target="../media/image67.png"/><Relationship Id="rId13" Type="http://schemas.openxmlformats.org/officeDocument/2006/relationships/image" Target="../media/image68.png"/><Relationship Id="rId14" Type="http://schemas.openxmlformats.org/officeDocument/2006/relationships/image" Target="../media/image69.png"/><Relationship Id="rId15" Type="http://schemas.openxmlformats.org/officeDocument/2006/relationships/image" Target="../media/image70.png"/><Relationship Id="rId16" Type="http://schemas.openxmlformats.org/officeDocument/2006/relationships/image" Target="../media/image71.png"/><Relationship Id="rId17" Type="http://schemas.openxmlformats.org/officeDocument/2006/relationships/image" Target="../media/image72.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9.png"/><Relationship Id="rId3" Type="http://schemas.openxmlformats.org/officeDocument/2006/relationships/image" Target="../media/image80.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1.png"/><Relationship Id="rId3" Type="http://schemas.openxmlformats.org/officeDocument/2006/relationships/image" Target="../media/image82.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image" Target="../media/image88.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1.png"/><Relationship Id="rId3" Type="http://schemas.openxmlformats.org/officeDocument/2006/relationships/image" Target="../media/image102.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8.png"/><Relationship Id="rId3" Type="http://schemas.openxmlformats.org/officeDocument/2006/relationships/image" Target="../media/image109.png"/><Relationship Id="rId4" Type="http://schemas.openxmlformats.org/officeDocument/2006/relationships/image" Target="../media/image110.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5.png"/><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1"/>
          <p:cNvSpPr txBox="1"/>
          <p:nvPr>
            <p:ph type="title"/>
          </p:nvPr>
        </p:nvSpPr>
        <p:spPr>
          <a:xfrm>
            <a:off x="838200" y="365125"/>
            <a:ext cx="10515600" cy="1325563"/>
          </a:xfrm>
          <a:prstGeom prst="rect">
            <a:avLst/>
          </a:prstGeom>
        </p:spPr>
        <p:txBody>
          <a:bodyPr/>
          <a:lstStyle/>
          <a:p>
            <a:pPr/>
            <a:r>
              <a:t>Features Implemented</a:t>
            </a:r>
          </a:p>
        </p:txBody>
      </p:sp>
      <p:sp>
        <p:nvSpPr>
          <p:cNvPr id="95" name="Content Placeholder 2"/>
          <p:cNvSpPr txBox="1"/>
          <p:nvPr>
            <p:ph type="body" sz="quarter" idx="1"/>
          </p:nvPr>
        </p:nvSpPr>
        <p:spPr>
          <a:xfrm>
            <a:off x="406399" y="1422508"/>
            <a:ext cx="2763522" cy="4429990"/>
          </a:xfrm>
          <a:prstGeom prst="rect">
            <a:avLst/>
          </a:prstGeom>
        </p:spPr>
        <p:txBody>
          <a:bodyPr/>
          <a:lstStyle/>
          <a:p>
            <a:pPr marL="0" indent="0">
              <a:lnSpc>
                <a:spcPct val="81000"/>
              </a:lnSpc>
              <a:buSzTx/>
              <a:buNone/>
            </a:pPr>
            <a:r>
              <a:t>Data Manipulation</a:t>
            </a:r>
          </a:p>
          <a:p>
            <a:pPr>
              <a:lnSpc>
                <a:spcPct val="81000"/>
              </a:lnSpc>
              <a:defRPr sz="2400"/>
            </a:pPr>
            <a:r>
              <a:t>Data Augmentation</a:t>
            </a:r>
          </a:p>
          <a:p>
            <a:pPr>
              <a:lnSpc>
                <a:spcPct val="81000"/>
              </a:lnSpc>
              <a:defRPr sz="2400"/>
            </a:pPr>
            <a:r>
              <a:t>Histogram Equalization on all training + test data</a:t>
            </a:r>
          </a:p>
          <a:p>
            <a:pPr>
              <a:lnSpc>
                <a:spcPct val="81000"/>
              </a:lnSpc>
              <a:defRPr sz="2400"/>
            </a:pPr>
            <a:r>
              <a:t>Histogram Equalization on final detector image</a:t>
            </a:r>
          </a:p>
        </p:txBody>
      </p:sp>
      <p:sp>
        <p:nvSpPr>
          <p:cNvPr id="96" name="Content Placeholder 2"/>
          <p:cNvSpPr txBox="1"/>
          <p:nvPr/>
        </p:nvSpPr>
        <p:spPr>
          <a:xfrm>
            <a:off x="3484880" y="1383182"/>
            <a:ext cx="2418082" cy="442999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90000"/>
              </a:lnSpc>
              <a:spcBef>
                <a:spcPts val="1000"/>
              </a:spcBef>
              <a:defRPr sz="2800"/>
            </a:pPr>
            <a:r>
              <a:t>Feature Descriptor</a:t>
            </a:r>
          </a:p>
          <a:p>
            <a:pPr marL="228600" indent="-228600">
              <a:lnSpc>
                <a:spcPct val="90000"/>
              </a:lnSpc>
              <a:spcBef>
                <a:spcPts val="1000"/>
              </a:spcBef>
              <a:buSzPct val="100000"/>
              <a:buFont typeface="Arial"/>
              <a:buChar char="•"/>
              <a:defRPr sz="2800"/>
            </a:pPr>
            <a:r>
              <a:t>Full Image (Raw pixels)</a:t>
            </a:r>
          </a:p>
          <a:p>
            <a:pPr lvl="1" marL="685800" indent="-228600">
              <a:lnSpc>
                <a:spcPct val="90000"/>
              </a:lnSpc>
              <a:spcBef>
                <a:spcPts val="500"/>
              </a:spcBef>
              <a:buSzPct val="100000"/>
              <a:buFont typeface="Arial"/>
              <a:buChar char="•"/>
              <a:defRPr sz="2400"/>
            </a:pPr>
            <a:r>
              <a:t>PCA</a:t>
            </a:r>
          </a:p>
          <a:p>
            <a:pPr marL="228600" indent="-228600">
              <a:lnSpc>
                <a:spcPct val="90000"/>
              </a:lnSpc>
              <a:spcBef>
                <a:spcPts val="1000"/>
              </a:spcBef>
              <a:buSzPct val="100000"/>
              <a:buFont typeface="Arial"/>
              <a:buChar char="•"/>
              <a:defRPr sz="2800"/>
            </a:pPr>
            <a:r>
              <a:t>HOG</a:t>
            </a:r>
          </a:p>
          <a:p>
            <a:pPr marL="228600" indent="-228600">
              <a:lnSpc>
                <a:spcPct val="90000"/>
              </a:lnSpc>
              <a:spcBef>
                <a:spcPts val="1000"/>
              </a:spcBef>
              <a:buSzPct val="100000"/>
              <a:buFont typeface="Arial"/>
              <a:buChar char="•"/>
              <a:defRPr sz="2800"/>
            </a:pPr>
            <a:r>
              <a:t>Gabor</a:t>
            </a:r>
          </a:p>
        </p:txBody>
      </p:sp>
      <p:sp>
        <p:nvSpPr>
          <p:cNvPr id="97" name="Content Placeholder 2"/>
          <p:cNvSpPr txBox="1"/>
          <p:nvPr/>
        </p:nvSpPr>
        <p:spPr>
          <a:xfrm>
            <a:off x="6174740" y="1825625"/>
            <a:ext cx="2447928"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868680">
              <a:lnSpc>
                <a:spcPct val="81000"/>
              </a:lnSpc>
              <a:spcBef>
                <a:spcPts val="900"/>
              </a:spcBef>
              <a:defRPr sz="2375"/>
            </a:pPr>
            <a:r>
              <a:t>Classifier</a:t>
            </a:r>
          </a:p>
          <a:p>
            <a:pPr marL="217170" indent="-217170" defTabSz="868680">
              <a:lnSpc>
                <a:spcPct val="81000"/>
              </a:lnSpc>
              <a:spcBef>
                <a:spcPts val="900"/>
              </a:spcBef>
              <a:buSzPct val="100000"/>
              <a:buFont typeface="Arial"/>
              <a:buChar char="•"/>
              <a:defRPr sz="2375"/>
            </a:pPr>
            <a:r>
              <a:t>K-NN (including 1-NN)</a:t>
            </a:r>
          </a:p>
          <a:p>
            <a:pPr marL="217170" indent="-217170" defTabSz="868680">
              <a:lnSpc>
                <a:spcPct val="81000"/>
              </a:lnSpc>
              <a:spcBef>
                <a:spcPts val="900"/>
              </a:spcBef>
              <a:buSzPct val="100000"/>
              <a:buFont typeface="Arial"/>
              <a:buChar char="•"/>
              <a:defRPr sz="2375"/>
            </a:pPr>
            <a:r>
              <a:t>SVM</a:t>
            </a:r>
          </a:p>
          <a:p>
            <a:pPr marL="217170" indent="-217170" defTabSz="868680">
              <a:lnSpc>
                <a:spcPct val="81000"/>
              </a:lnSpc>
              <a:spcBef>
                <a:spcPts val="900"/>
              </a:spcBef>
              <a:buSzPct val="100000"/>
              <a:buFont typeface="Arial"/>
              <a:buChar char="•"/>
              <a:defRPr sz="2375"/>
            </a:pPr>
            <a:r>
              <a:t>Standalone Decision tree</a:t>
            </a:r>
          </a:p>
          <a:p>
            <a:pPr marL="217170" indent="-217170" defTabSz="868680">
              <a:lnSpc>
                <a:spcPct val="81000"/>
              </a:lnSpc>
              <a:spcBef>
                <a:spcPts val="900"/>
              </a:spcBef>
              <a:buSzPct val="100000"/>
              <a:buFont typeface="Arial"/>
              <a:buChar char="•"/>
              <a:defRPr sz="2375"/>
            </a:pPr>
            <a:r>
              <a:t>Random Forest</a:t>
            </a:r>
          </a:p>
          <a:p>
            <a:pPr marL="217170" indent="-217170" defTabSz="868680">
              <a:lnSpc>
                <a:spcPct val="81000"/>
              </a:lnSpc>
              <a:spcBef>
                <a:spcPts val="900"/>
              </a:spcBef>
              <a:buSzPct val="100000"/>
              <a:buFont typeface="Arial"/>
              <a:buChar char="•"/>
              <a:defRPr sz="2375"/>
            </a:pPr>
            <a:r>
              <a:t>AdaBoost</a:t>
            </a:r>
          </a:p>
          <a:p>
            <a:pPr marL="217170" indent="-217170" defTabSz="868680">
              <a:lnSpc>
                <a:spcPct val="81000"/>
              </a:lnSpc>
              <a:spcBef>
                <a:spcPts val="900"/>
              </a:spcBef>
              <a:buSzPct val="100000"/>
              <a:buFont typeface="Arial"/>
              <a:buChar char="•"/>
              <a:defRPr sz="2375"/>
            </a:pPr>
            <a:r>
              <a:t>MLP</a:t>
            </a:r>
          </a:p>
          <a:p>
            <a:pPr marL="217170" indent="-217170" defTabSz="868680">
              <a:lnSpc>
                <a:spcPct val="81000"/>
              </a:lnSpc>
              <a:spcBef>
                <a:spcPts val="900"/>
              </a:spcBef>
              <a:buSzPct val="100000"/>
              <a:buFont typeface="Arial"/>
              <a:buChar char="•"/>
              <a:defRPr sz="2375"/>
            </a:pPr>
          </a:p>
        </p:txBody>
      </p:sp>
      <p:sp>
        <p:nvSpPr>
          <p:cNvPr id="98" name="Content Placeholder 2"/>
          <p:cNvSpPr txBox="1"/>
          <p:nvPr/>
        </p:nvSpPr>
        <p:spPr>
          <a:xfrm>
            <a:off x="9067801" y="1800225"/>
            <a:ext cx="2240281"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90000"/>
              </a:lnSpc>
              <a:spcBef>
                <a:spcPts val="1000"/>
              </a:spcBef>
              <a:defRPr sz="2800"/>
            </a:pPr>
            <a:r>
              <a:t>Detector</a:t>
            </a:r>
          </a:p>
          <a:p>
            <a:pPr marL="228600" indent="-228600">
              <a:lnSpc>
                <a:spcPct val="90000"/>
              </a:lnSpc>
              <a:spcBef>
                <a:spcPts val="1000"/>
              </a:spcBef>
              <a:buSzPct val="100000"/>
              <a:buFont typeface="Arial"/>
              <a:buChar char="•"/>
              <a:defRPr sz="2800"/>
            </a:pPr>
            <a:r>
              <a:t>NMS</a:t>
            </a:r>
          </a:p>
          <a:p>
            <a:pPr marL="228600" indent="-228600">
              <a:lnSpc>
                <a:spcPct val="90000"/>
              </a:lnSpc>
              <a:spcBef>
                <a:spcPts val="1000"/>
              </a:spcBef>
              <a:buSzPct val="100000"/>
              <a:buFont typeface="Arial"/>
              <a:buChar char="•"/>
              <a:defRPr sz="2800"/>
            </a:pPr>
            <a:r>
              <a:t>Multi-scale sliding window</a:t>
            </a:r>
          </a:p>
        </p:txBody>
      </p:sp>
      <p:sp>
        <p:nvSpPr>
          <p:cNvPr id="99" name="Straight Connector 8"/>
          <p:cNvSpPr/>
          <p:nvPr/>
        </p:nvSpPr>
        <p:spPr>
          <a:xfrm>
            <a:off x="255639" y="2251586"/>
            <a:ext cx="11670891" cy="1"/>
          </a:xfrm>
          <a:prstGeom prst="line">
            <a:avLst/>
          </a:prstGeom>
          <a:ln w="19050">
            <a:solidFill>
              <a:schemeClr val="accent1"/>
            </a:solidFill>
            <a:miter/>
          </a:ln>
        </p:spPr>
        <p:txBody>
          <a:bodyPr lIns="45719" rIns="45719"/>
          <a:lstStyle/>
          <a:p>
            <a:pPr/>
          </a:p>
        </p:txBody>
      </p:sp>
      <p:sp>
        <p:nvSpPr>
          <p:cNvPr id="100" name="Straight Connector 11"/>
          <p:cNvSpPr/>
          <p:nvPr/>
        </p:nvSpPr>
        <p:spPr>
          <a:xfrm>
            <a:off x="3113225" y="1690688"/>
            <a:ext cx="25399" cy="4351339"/>
          </a:xfrm>
          <a:prstGeom prst="line">
            <a:avLst/>
          </a:prstGeom>
          <a:ln w="19050">
            <a:solidFill>
              <a:schemeClr val="accent1"/>
            </a:solidFill>
            <a:miter/>
          </a:ln>
        </p:spPr>
        <p:txBody>
          <a:bodyPr lIns="45719" rIns="45719"/>
          <a:lstStyle/>
          <a:p>
            <a:pPr/>
          </a:p>
        </p:txBody>
      </p:sp>
      <p:sp>
        <p:nvSpPr>
          <p:cNvPr id="101" name="Straight Connector 15"/>
          <p:cNvSpPr/>
          <p:nvPr/>
        </p:nvSpPr>
        <p:spPr>
          <a:xfrm>
            <a:off x="5923283" y="1690688"/>
            <a:ext cx="25399" cy="4351339"/>
          </a:xfrm>
          <a:prstGeom prst="line">
            <a:avLst/>
          </a:prstGeom>
          <a:ln w="19050">
            <a:solidFill>
              <a:schemeClr val="accent1"/>
            </a:solidFill>
            <a:miter/>
          </a:ln>
        </p:spPr>
        <p:txBody>
          <a:bodyPr lIns="45719" rIns="45719"/>
          <a:lstStyle/>
          <a:p>
            <a:pPr/>
          </a:p>
        </p:txBody>
      </p:sp>
      <p:sp>
        <p:nvSpPr>
          <p:cNvPr id="102" name="Straight Connector 16"/>
          <p:cNvSpPr/>
          <p:nvPr/>
        </p:nvSpPr>
        <p:spPr>
          <a:xfrm>
            <a:off x="8753095" y="1685724"/>
            <a:ext cx="25399" cy="4351339"/>
          </a:xfrm>
          <a:prstGeom prst="line">
            <a:avLst/>
          </a:prstGeom>
          <a:ln w="19050">
            <a:solidFill>
              <a:schemeClr val="accent1"/>
            </a:solidFill>
            <a:miter/>
          </a:ln>
        </p:spPr>
        <p:txBody>
          <a:bodyPr lIns="45719" rIns="45719"/>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Title 1"/>
          <p:cNvSpPr txBox="1"/>
          <p:nvPr>
            <p:ph type="ctrTitle"/>
          </p:nvPr>
        </p:nvSpPr>
        <p:spPr>
          <a:xfrm>
            <a:off x="1422400" y="129727"/>
            <a:ext cx="9144000" cy="997840"/>
          </a:xfrm>
          <a:prstGeom prst="rect">
            <a:avLst/>
          </a:prstGeom>
        </p:spPr>
        <p:txBody>
          <a:bodyPr/>
          <a:lstStyle>
            <a:lvl1pPr defTabSz="795527">
              <a:defRPr sz="5220"/>
            </a:lvl1pPr>
          </a:lstStyle>
          <a:p>
            <a:pPr/>
            <a:r>
              <a:t>Full Image → KNN version 1/3</a:t>
            </a:r>
          </a:p>
        </p:txBody>
      </p:sp>
      <p:sp>
        <p:nvSpPr>
          <p:cNvPr id="105" name="Subtitle 2"/>
          <p:cNvSpPr txBox="1"/>
          <p:nvPr>
            <p:ph type="subTitle" sz="half" idx="1"/>
          </p:nvPr>
        </p:nvSpPr>
        <p:spPr>
          <a:xfrm>
            <a:off x="802638" y="1224632"/>
            <a:ext cx="5155734" cy="3380754"/>
          </a:xfrm>
          <a:prstGeom prst="rect">
            <a:avLst/>
          </a:prstGeom>
        </p:spPr>
        <p:txBody>
          <a:bodyPr/>
          <a:lstStyle/>
          <a:p>
            <a:pPr algn="l">
              <a:lnSpc>
                <a:spcPct val="72000"/>
              </a:lnSpc>
              <a:defRPr sz="1500"/>
            </a:pPr>
            <a:r>
              <a:t>Our first pipeline began with using the Full Image as the feature descriptor and using KNN to classify them.</a:t>
            </a:r>
          </a:p>
          <a:p>
            <a:pPr algn="l">
              <a:lnSpc>
                <a:spcPct val="72000"/>
              </a:lnSpc>
              <a:defRPr sz="1500"/>
            </a:pPr>
            <a:r>
              <a:t>Features already included by this stage includes:</a:t>
            </a:r>
          </a:p>
          <a:p>
            <a:pPr marL="342900" indent="-342900" algn="l">
              <a:lnSpc>
                <a:spcPct val="72000"/>
              </a:lnSpc>
              <a:buSzPct val="100000"/>
              <a:buFont typeface="Arial"/>
              <a:buChar char="•"/>
              <a:defRPr sz="1500"/>
            </a:pPr>
            <a:r>
              <a:t>NMS (Non-Maxima Suppression)</a:t>
            </a:r>
          </a:p>
          <a:p>
            <a:pPr marL="342900" indent="-342900" algn="l">
              <a:lnSpc>
                <a:spcPct val="72000"/>
              </a:lnSpc>
              <a:buSzPct val="100000"/>
              <a:buFont typeface="Arial"/>
              <a:buChar char="•"/>
              <a:defRPr sz="1500"/>
            </a:pPr>
            <a:r>
              <a:t>Histogram Equalization optionality on training/test data, AND SEPARATELY, detector image.</a:t>
            </a:r>
          </a:p>
          <a:p>
            <a:pPr algn="l">
              <a:lnSpc>
                <a:spcPct val="72000"/>
              </a:lnSpc>
              <a:defRPr sz="1500"/>
            </a:pPr>
          </a:p>
          <a:p>
            <a:pPr algn="l">
              <a:lnSpc>
                <a:spcPct val="72000"/>
              </a:lnSpc>
              <a:defRPr sz="1500"/>
            </a:pPr>
            <a:r>
              <a:t>The KNN algorithm we implemented finds the best K with highest accuracy during cross validation, when given a range of K.</a:t>
            </a:r>
          </a:p>
          <a:p>
            <a:pPr algn="l">
              <a:lnSpc>
                <a:spcPct val="72000"/>
              </a:lnSpc>
              <a:defRPr sz="1500"/>
            </a:pPr>
            <a:r>
              <a:t>We used a range from 1 to 90, as we noticed accuracy would start to drop after around K = 60.</a:t>
            </a:r>
          </a:p>
        </p:txBody>
      </p:sp>
      <p:graphicFrame>
        <p:nvGraphicFramePr>
          <p:cNvPr id="106" name="Chart 3"/>
          <p:cNvGraphicFramePr/>
          <p:nvPr/>
        </p:nvGraphicFramePr>
        <p:xfrm>
          <a:off x="-120610" y="4457700"/>
          <a:ext cx="5466429" cy="2402417"/>
        </p:xfrm>
        <a:graphic xmlns:a="http://schemas.openxmlformats.org/drawingml/2006/main">
          <a:graphicData uri="http://schemas.openxmlformats.org/drawingml/2006/chart">
            <c:chart xmlns:c="http://schemas.openxmlformats.org/drawingml/2006/chart" r:id="rId2"/>
          </a:graphicData>
        </a:graphic>
      </p:graphicFrame>
      <p:pic>
        <p:nvPicPr>
          <p:cNvPr id="107" name="Picture 5" descr="Picture 5"/>
          <p:cNvPicPr>
            <a:picLocks noChangeAspect="1"/>
          </p:cNvPicPr>
          <p:nvPr/>
        </p:nvPicPr>
        <p:blipFill>
          <a:blip r:embed="rId3">
            <a:extLst/>
          </a:blip>
          <a:stretch>
            <a:fillRect/>
          </a:stretch>
        </p:blipFill>
        <p:spPr>
          <a:xfrm>
            <a:off x="6541192" y="4780462"/>
            <a:ext cx="4326721" cy="1508806"/>
          </a:xfrm>
          <a:prstGeom prst="rect">
            <a:avLst/>
          </a:prstGeom>
          <a:ln>
            <a:solidFill>
              <a:srgbClr val="000000"/>
            </a:solidFill>
          </a:ln>
        </p:spPr>
      </p:pic>
      <p:sp>
        <p:nvSpPr>
          <p:cNvPr id="108" name="Subtitle 2"/>
          <p:cNvSpPr txBox="1"/>
          <p:nvPr/>
        </p:nvSpPr>
        <p:spPr>
          <a:xfrm>
            <a:off x="7879162" y="4450629"/>
            <a:ext cx="1970959" cy="309514"/>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lgn="ctr" defTabSz="850391">
              <a:lnSpc>
                <a:spcPct val="81000"/>
              </a:lnSpc>
              <a:spcBef>
                <a:spcPts val="900"/>
              </a:spcBef>
              <a:defRPr sz="1488"/>
            </a:lvl1pPr>
          </a:lstStyle>
          <a:p>
            <a:pPr/>
            <a:r>
              <a:t>If K = 1 (i.e. 1-NN)</a:t>
            </a:r>
          </a:p>
        </p:txBody>
      </p:sp>
      <p:sp>
        <p:nvSpPr>
          <p:cNvPr id="109" name="Subtitle 2"/>
          <p:cNvSpPr txBox="1"/>
          <p:nvPr/>
        </p:nvSpPr>
        <p:spPr>
          <a:xfrm>
            <a:off x="6385643" y="3533116"/>
            <a:ext cx="4957999" cy="1508806"/>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90000"/>
              </a:lnSpc>
              <a:spcBef>
                <a:spcPts val="1000"/>
              </a:spcBef>
            </a:pPr>
          </a:p>
          <a:p>
            <a:pPr>
              <a:lnSpc>
                <a:spcPct val="90000"/>
              </a:lnSpc>
              <a:spcBef>
                <a:spcPts val="1000"/>
              </a:spcBef>
            </a:pPr>
            <a:r>
              <a:t>Naturally, this means 1-NN is included in the model. </a:t>
            </a:r>
          </a:p>
        </p:txBody>
      </p:sp>
      <p:pic>
        <p:nvPicPr>
          <p:cNvPr id="110" name="Image" descr="Image"/>
          <p:cNvPicPr>
            <a:picLocks noChangeAspect="1"/>
          </p:cNvPicPr>
          <p:nvPr/>
        </p:nvPicPr>
        <p:blipFill>
          <a:blip r:embed="rId4">
            <a:extLst/>
          </a:blip>
          <a:stretch>
            <a:fillRect/>
          </a:stretch>
        </p:blipFill>
        <p:spPr>
          <a:xfrm>
            <a:off x="6910185" y="1056546"/>
            <a:ext cx="2801049" cy="2846968"/>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Content Placeholder 2"/>
          <p:cNvSpPr txBox="1"/>
          <p:nvPr>
            <p:ph type="body" sz="half" idx="1"/>
          </p:nvPr>
        </p:nvSpPr>
        <p:spPr>
          <a:xfrm>
            <a:off x="6213988" y="1561197"/>
            <a:ext cx="5729749" cy="4752138"/>
          </a:xfrm>
          <a:prstGeom prst="rect">
            <a:avLst/>
          </a:prstGeom>
        </p:spPr>
        <p:txBody>
          <a:bodyPr/>
          <a:lstStyle/>
          <a:p>
            <a:pPr marL="224027" indent="-224027" defTabSz="896111">
              <a:lnSpc>
                <a:spcPct val="72000"/>
              </a:lnSpc>
              <a:spcBef>
                <a:spcPts val="900"/>
              </a:spcBef>
              <a:defRPr sz="2352"/>
            </a:pPr>
            <a:r>
              <a:t>The major improvement in this version was adding confidence level to the algorithm, so we can see how certain the program is about detecting a face or not.</a:t>
            </a:r>
            <a:endParaRPr sz="2058"/>
          </a:p>
          <a:p>
            <a:pPr marL="224027" indent="-224027" defTabSz="896111">
              <a:lnSpc>
                <a:spcPct val="72000"/>
              </a:lnSpc>
              <a:spcBef>
                <a:spcPts val="900"/>
              </a:spcBef>
              <a:defRPr sz="3038"/>
            </a:pPr>
          </a:p>
          <a:p>
            <a:pPr marL="224027" indent="-224027" defTabSz="896111">
              <a:lnSpc>
                <a:spcPct val="72000"/>
              </a:lnSpc>
              <a:spcBef>
                <a:spcPts val="900"/>
              </a:spcBef>
              <a:defRPr sz="2352"/>
            </a:pPr>
            <a:r>
              <a:t>Each colour represents certain confidence threshold:</a:t>
            </a:r>
            <a:endParaRPr sz="2058"/>
          </a:p>
          <a:p>
            <a:pPr marL="224027" indent="-224027" defTabSz="896111">
              <a:lnSpc>
                <a:spcPct val="72000"/>
              </a:lnSpc>
              <a:spcBef>
                <a:spcPts val="900"/>
              </a:spcBef>
              <a:defRPr sz="2352"/>
            </a:pPr>
            <a:r>
              <a:t>Cyan – &gt;90%</a:t>
            </a:r>
            <a:endParaRPr sz="2058"/>
          </a:p>
          <a:p>
            <a:pPr marL="224027" indent="-224027" defTabSz="896111">
              <a:lnSpc>
                <a:spcPct val="72000"/>
              </a:lnSpc>
              <a:spcBef>
                <a:spcPts val="900"/>
              </a:spcBef>
              <a:defRPr sz="2352"/>
            </a:pPr>
            <a:r>
              <a:t>Green – &gt;70%</a:t>
            </a:r>
            <a:endParaRPr sz="2058"/>
          </a:p>
          <a:p>
            <a:pPr marL="224027" indent="-224027" defTabSz="896111">
              <a:lnSpc>
                <a:spcPct val="72000"/>
              </a:lnSpc>
              <a:spcBef>
                <a:spcPts val="900"/>
              </a:spcBef>
              <a:defRPr sz="2352"/>
            </a:pPr>
            <a:r>
              <a:t>Yellow – &gt;50%</a:t>
            </a:r>
            <a:endParaRPr sz="2058"/>
          </a:p>
          <a:p>
            <a:pPr marL="224027" indent="-224027" defTabSz="896111">
              <a:lnSpc>
                <a:spcPct val="72000"/>
              </a:lnSpc>
              <a:spcBef>
                <a:spcPts val="900"/>
              </a:spcBef>
              <a:defRPr sz="2352"/>
            </a:pPr>
            <a:r>
              <a:t>White - &lt;50%</a:t>
            </a:r>
            <a:endParaRPr sz="2058"/>
          </a:p>
          <a:p>
            <a:pPr marL="0" indent="0" defTabSz="896111">
              <a:lnSpc>
                <a:spcPct val="72000"/>
              </a:lnSpc>
              <a:spcBef>
                <a:spcPts val="900"/>
              </a:spcBef>
              <a:buSzTx/>
              <a:buNone/>
              <a:defRPr sz="1568"/>
            </a:pPr>
            <a:br>
              <a:rPr sz="2058"/>
            </a:br>
            <a:r>
              <a:t>*Following NN/KNN models all have this confidence score feature implemented</a:t>
            </a:r>
          </a:p>
        </p:txBody>
      </p:sp>
      <p:sp>
        <p:nvSpPr>
          <p:cNvPr id="113" name="Title 1"/>
          <p:cNvSpPr txBox="1"/>
          <p:nvPr/>
        </p:nvSpPr>
        <p:spPr>
          <a:xfrm>
            <a:off x="2543112" y="396909"/>
            <a:ext cx="6663323" cy="9978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defTabSz="795527">
              <a:lnSpc>
                <a:spcPct val="90000"/>
              </a:lnSpc>
              <a:defRPr sz="3828">
                <a:latin typeface="Aptos Display"/>
                <a:ea typeface="Aptos Display"/>
                <a:cs typeface="Aptos Display"/>
                <a:sym typeface="Aptos Display"/>
              </a:defRPr>
            </a:lvl1pPr>
          </a:lstStyle>
          <a:p>
            <a:pPr/>
            <a:r>
              <a:t>Full Image → KNN version 2/3</a:t>
            </a:r>
          </a:p>
        </p:txBody>
      </p:sp>
      <p:pic>
        <p:nvPicPr>
          <p:cNvPr id="114" name="Picture 12" descr="Picture 12"/>
          <p:cNvPicPr>
            <a:picLocks noChangeAspect="1"/>
          </p:cNvPicPr>
          <p:nvPr/>
        </p:nvPicPr>
        <p:blipFill>
          <a:blip r:embed="rId2">
            <a:extLst/>
          </a:blip>
          <a:stretch>
            <a:fillRect/>
          </a:stretch>
        </p:blipFill>
        <p:spPr>
          <a:xfrm>
            <a:off x="459773" y="1630022"/>
            <a:ext cx="5323257" cy="4899895"/>
          </a:xfrm>
          <a:prstGeom prst="rect">
            <a:avLst/>
          </a:prstGeom>
          <a:ln w="12700">
            <a:miter lim="400000"/>
          </a:ln>
        </p:spPr>
      </p:pic>
      <p:pic>
        <p:nvPicPr>
          <p:cNvPr id="115" name="Picture 13" descr="Picture 13"/>
          <p:cNvPicPr>
            <a:picLocks noChangeAspect="1"/>
          </p:cNvPicPr>
          <p:nvPr/>
        </p:nvPicPr>
        <p:blipFill>
          <a:blip r:embed="rId2">
            <a:extLst/>
          </a:blip>
          <a:stretch>
            <a:fillRect/>
          </a:stretch>
        </p:blipFill>
        <p:spPr>
          <a:xfrm>
            <a:off x="479437" y="1561196"/>
            <a:ext cx="5323258" cy="4899895"/>
          </a:xfrm>
          <a:prstGeom prst="rect">
            <a:avLst/>
          </a:prstGeom>
          <a:ln>
            <a:solidFill>
              <a:srgbClr val="000000"/>
            </a:solidFill>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7" name="Content Placeholder 5" descr="Content Placeholder 5"/>
          <p:cNvPicPr>
            <a:picLocks noChangeAspect="1"/>
          </p:cNvPicPr>
          <p:nvPr/>
        </p:nvPicPr>
        <p:blipFill>
          <a:blip r:embed="rId2">
            <a:extLst/>
          </a:blip>
          <a:stretch>
            <a:fillRect/>
          </a:stretch>
        </p:blipFill>
        <p:spPr>
          <a:xfrm>
            <a:off x="213893" y="699802"/>
            <a:ext cx="5483901" cy="5458396"/>
          </a:xfrm>
          <a:prstGeom prst="rect">
            <a:avLst/>
          </a:prstGeom>
          <a:ln>
            <a:solidFill>
              <a:srgbClr val="000000"/>
            </a:solidFill>
          </a:ln>
        </p:spPr>
      </p:pic>
      <p:sp>
        <p:nvSpPr>
          <p:cNvPr id="118" name="Title 1"/>
          <p:cNvSpPr txBox="1"/>
          <p:nvPr/>
        </p:nvSpPr>
        <p:spPr>
          <a:xfrm>
            <a:off x="2543112" y="121604"/>
            <a:ext cx="6663323" cy="576487"/>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defTabSz="713231">
              <a:lnSpc>
                <a:spcPct val="72000"/>
              </a:lnSpc>
              <a:defRPr sz="3120">
                <a:latin typeface="Aptos Display"/>
                <a:ea typeface="Aptos Display"/>
                <a:cs typeface="Aptos Display"/>
                <a:sym typeface="Aptos Display"/>
              </a:defRPr>
            </a:lvl1pPr>
          </a:lstStyle>
          <a:p>
            <a:pPr/>
            <a:r>
              <a:t>Full Image → KNN version 3/3</a:t>
            </a:r>
          </a:p>
        </p:txBody>
      </p:sp>
      <p:sp>
        <p:nvSpPr>
          <p:cNvPr id="119" name="Subtitle 2"/>
          <p:cNvSpPr txBox="1"/>
          <p:nvPr/>
        </p:nvSpPr>
        <p:spPr>
          <a:xfrm>
            <a:off x="6141719" y="1957929"/>
            <a:ext cx="5045261" cy="349045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224027" indent="-224027" defTabSz="896111">
              <a:lnSpc>
                <a:spcPct val="90000"/>
              </a:lnSpc>
              <a:spcBef>
                <a:spcPts val="900"/>
              </a:spcBef>
              <a:buSzPct val="100000"/>
              <a:buFont typeface="Arial"/>
              <a:buChar char="•"/>
              <a:defRPr sz="2744"/>
            </a:pPr>
            <a:r>
              <a:t>The last version of Full Image → KNN implements multiscale sliding window detector.</a:t>
            </a:r>
          </a:p>
          <a:p>
            <a:pPr marL="224027" indent="-224027" defTabSz="896111">
              <a:lnSpc>
                <a:spcPct val="90000"/>
              </a:lnSpc>
              <a:spcBef>
                <a:spcPts val="900"/>
              </a:spcBef>
              <a:buSzPct val="100000"/>
              <a:buFont typeface="Arial"/>
              <a:buChar char="•"/>
              <a:defRPr sz="2744"/>
            </a:pPr>
            <a:r>
              <a:t>The faces are better captured due to the different face size and overall image size.</a:t>
            </a:r>
          </a:p>
          <a:p>
            <a:pPr defTabSz="896111">
              <a:lnSpc>
                <a:spcPct val="90000"/>
              </a:lnSpc>
              <a:spcBef>
                <a:spcPts val="900"/>
              </a:spcBef>
              <a:defRPr sz="1568"/>
            </a:pPr>
          </a:p>
          <a:p>
            <a:pPr defTabSz="896111">
              <a:lnSpc>
                <a:spcPct val="90000"/>
              </a:lnSpc>
              <a:spcBef>
                <a:spcPts val="900"/>
              </a:spcBef>
              <a:defRPr sz="1568"/>
            </a:pPr>
            <a:r>
              <a:t>*Following models all have this multiscale sliding window detector feature implemented</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Title 1"/>
          <p:cNvSpPr txBox="1"/>
          <p:nvPr>
            <p:ph type="title"/>
          </p:nvPr>
        </p:nvSpPr>
        <p:spPr>
          <a:xfrm>
            <a:off x="838200" y="230961"/>
            <a:ext cx="10515600" cy="450952"/>
          </a:xfrm>
          <a:prstGeom prst="rect">
            <a:avLst/>
          </a:prstGeom>
        </p:spPr>
        <p:txBody>
          <a:bodyPr/>
          <a:lstStyle>
            <a:lvl1pPr algn="ctr" defTabSz="557784">
              <a:defRPr sz="2379"/>
            </a:lvl1pPr>
          </a:lstStyle>
          <a:p>
            <a:pPr/>
            <a:r>
              <a:t>NMS (Non-Maxima Suppression)</a:t>
            </a:r>
          </a:p>
        </p:txBody>
      </p:sp>
      <p:grpSp>
        <p:nvGrpSpPr>
          <p:cNvPr id="127" name="Group 3"/>
          <p:cNvGrpSpPr/>
          <p:nvPr/>
        </p:nvGrpSpPr>
        <p:grpSpPr>
          <a:xfrm>
            <a:off x="134093" y="921391"/>
            <a:ext cx="6728823" cy="5846787"/>
            <a:chOff x="0" y="0"/>
            <a:chExt cx="6728821" cy="5846786"/>
          </a:xfrm>
        </p:grpSpPr>
        <p:pic>
          <p:nvPicPr>
            <p:cNvPr id="122" name="Picture 8" descr="Picture 8"/>
            <p:cNvPicPr>
              <a:picLocks noChangeAspect="1"/>
            </p:cNvPicPr>
            <p:nvPr/>
          </p:nvPicPr>
          <p:blipFill>
            <a:blip r:embed="rId2">
              <a:extLst/>
            </a:blip>
            <a:stretch>
              <a:fillRect/>
            </a:stretch>
          </p:blipFill>
          <p:spPr>
            <a:xfrm>
              <a:off x="0" y="0"/>
              <a:ext cx="6728822" cy="5846787"/>
            </a:xfrm>
            <a:prstGeom prst="rect">
              <a:avLst/>
            </a:prstGeom>
            <a:ln w="12700" cap="flat">
              <a:noFill/>
              <a:miter lim="400000"/>
            </a:ln>
            <a:effectLst/>
          </p:spPr>
        </p:pic>
        <p:sp>
          <p:nvSpPr>
            <p:cNvPr id="123" name="Arrow: Right 9"/>
            <p:cNvSpPr/>
            <p:nvPr/>
          </p:nvSpPr>
          <p:spPr>
            <a:xfrm>
              <a:off x="3023772" y="1460367"/>
              <a:ext cx="681276" cy="246963"/>
            </a:xfrm>
            <a:prstGeom prst="rightArrow">
              <a:avLst>
                <a:gd name="adj1" fmla="val 50000"/>
                <a:gd name="adj2" fmla="val 50000"/>
              </a:avLst>
            </a:prstGeom>
            <a:solidFill>
              <a:srgbClr val="00B050"/>
            </a:solidFill>
            <a:ln w="19050" cap="flat">
              <a:solidFill>
                <a:srgbClr val="000000"/>
              </a:solidFill>
              <a:prstDash val="solid"/>
              <a:miter lim="800000"/>
            </a:ln>
            <a:effectLst/>
          </p:spPr>
          <p:txBody>
            <a:bodyPr wrap="square" lIns="45719" tIns="45719" rIns="45719" bIns="45719" numCol="1" anchor="ctr">
              <a:noAutofit/>
            </a:bodyPr>
            <a:lstStyle/>
            <a:p>
              <a:pPr algn="ctr">
                <a:defRPr>
                  <a:solidFill>
                    <a:srgbClr val="FFFFFF"/>
                  </a:solidFill>
                </a:defRPr>
              </a:pPr>
            </a:p>
          </p:txBody>
        </p:sp>
        <p:sp>
          <p:nvSpPr>
            <p:cNvPr id="124" name="Arrow: Right 11"/>
            <p:cNvSpPr/>
            <p:nvPr/>
          </p:nvSpPr>
          <p:spPr>
            <a:xfrm>
              <a:off x="3023772" y="4211016"/>
              <a:ext cx="681276" cy="246963"/>
            </a:xfrm>
            <a:prstGeom prst="rightArrow">
              <a:avLst>
                <a:gd name="adj1" fmla="val 50000"/>
                <a:gd name="adj2" fmla="val 50000"/>
              </a:avLst>
            </a:prstGeom>
            <a:solidFill>
              <a:srgbClr val="00B050"/>
            </a:solidFill>
            <a:ln w="19050" cap="flat">
              <a:solidFill>
                <a:srgbClr val="000000"/>
              </a:solidFill>
              <a:prstDash val="solid"/>
              <a:miter lim="800000"/>
            </a:ln>
            <a:effectLst/>
          </p:spPr>
          <p:txBody>
            <a:bodyPr wrap="square" lIns="45719" tIns="45719" rIns="45719" bIns="45719" numCol="1" anchor="ctr">
              <a:noAutofit/>
            </a:bodyPr>
            <a:lstStyle/>
            <a:p>
              <a:pPr algn="ctr">
                <a:defRPr>
                  <a:solidFill>
                    <a:srgbClr val="FFFFFF"/>
                  </a:solidFill>
                </a:defRPr>
              </a:pPr>
            </a:p>
          </p:txBody>
        </p:sp>
        <p:pic>
          <p:nvPicPr>
            <p:cNvPr id="125" name="Picture 15" descr="Picture 15"/>
            <p:cNvPicPr>
              <a:picLocks noChangeAspect="1"/>
            </p:cNvPicPr>
            <p:nvPr/>
          </p:nvPicPr>
          <p:blipFill>
            <a:blip r:embed="rId3">
              <a:extLst/>
            </a:blip>
            <a:stretch>
              <a:fillRect/>
            </a:stretch>
          </p:blipFill>
          <p:spPr>
            <a:xfrm>
              <a:off x="42852" y="2996239"/>
              <a:ext cx="2636466" cy="2624166"/>
            </a:xfrm>
            <a:prstGeom prst="rect">
              <a:avLst/>
            </a:prstGeom>
            <a:ln w="12700" cap="flat">
              <a:noFill/>
              <a:miter lim="400000"/>
            </a:ln>
            <a:effectLst/>
          </p:spPr>
        </p:pic>
        <p:pic>
          <p:nvPicPr>
            <p:cNvPr id="126" name="Picture 17" descr="Picture 17"/>
            <p:cNvPicPr>
              <a:picLocks noChangeAspect="1"/>
            </p:cNvPicPr>
            <p:nvPr/>
          </p:nvPicPr>
          <p:blipFill>
            <a:blip r:embed="rId4">
              <a:extLst/>
            </a:blip>
            <a:stretch>
              <a:fillRect/>
            </a:stretch>
          </p:blipFill>
          <p:spPr>
            <a:xfrm>
              <a:off x="3933685" y="2980752"/>
              <a:ext cx="2741873" cy="2724895"/>
            </a:xfrm>
            <a:prstGeom prst="rect">
              <a:avLst/>
            </a:prstGeom>
            <a:ln w="12700" cap="flat">
              <a:noFill/>
              <a:miter lim="400000"/>
            </a:ln>
            <a:effectLst/>
          </p:spPr>
        </p:pic>
      </p:grpSp>
      <p:sp>
        <p:nvSpPr>
          <p:cNvPr id="128" name="Subtitle 2"/>
          <p:cNvSpPr txBox="1"/>
          <p:nvPr/>
        </p:nvSpPr>
        <p:spPr>
          <a:xfrm>
            <a:off x="6995835" y="921391"/>
            <a:ext cx="5016352" cy="5288449"/>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228600" indent="-228600">
              <a:lnSpc>
                <a:spcPct val="90000"/>
              </a:lnSpc>
              <a:spcBef>
                <a:spcPts val="1000"/>
              </a:spcBef>
              <a:buSzPct val="100000"/>
              <a:buFont typeface="Arial"/>
              <a:buChar char="•"/>
              <a:defRPr sz="2800"/>
            </a:pPr>
            <a:r>
              <a:t>Threshold is important. </a:t>
            </a:r>
            <a:br/>
            <a:r>
              <a:t>In general, value should be as low as possible. It was noted that in some cases, even say 0.05 was not enough. Below is an example:</a:t>
            </a:r>
          </a:p>
        </p:txBody>
      </p:sp>
      <p:pic>
        <p:nvPicPr>
          <p:cNvPr id="129" name="Picture 6" descr="Picture 6"/>
          <p:cNvPicPr>
            <a:picLocks noChangeAspect="1"/>
          </p:cNvPicPr>
          <p:nvPr/>
        </p:nvPicPr>
        <p:blipFill>
          <a:blip r:embed="rId5">
            <a:extLst/>
          </a:blip>
          <a:srcRect l="25120" t="0" r="0" b="0"/>
          <a:stretch>
            <a:fillRect/>
          </a:stretch>
        </p:blipFill>
        <p:spPr>
          <a:xfrm>
            <a:off x="7137473" y="3400817"/>
            <a:ext cx="4570347" cy="3463182"/>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Title 1"/>
          <p:cNvSpPr txBox="1"/>
          <p:nvPr>
            <p:ph type="title"/>
          </p:nvPr>
        </p:nvSpPr>
        <p:spPr>
          <a:xfrm>
            <a:off x="838200" y="292099"/>
            <a:ext cx="10515600" cy="777876"/>
          </a:xfrm>
          <a:prstGeom prst="rect">
            <a:avLst/>
          </a:prstGeom>
        </p:spPr>
        <p:txBody>
          <a:bodyPr/>
          <a:lstStyle>
            <a:lvl1pPr algn="ctr" defTabSz="832104">
              <a:defRPr sz="4004"/>
            </a:lvl1pPr>
          </a:lstStyle>
          <a:p>
            <a:pPr/>
            <a:r>
              <a:t>Histogram Equalization (on training+test data)</a:t>
            </a:r>
          </a:p>
        </p:txBody>
      </p:sp>
      <p:sp>
        <p:nvSpPr>
          <p:cNvPr id="132" name="Subtitle 2"/>
          <p:cNvSpPr txBox="1"/>
          <p:nvPr/>
        </p:nvSpPr>
        <p:spPr>
          <a:xfrm>
            <a:off x="5736016" y="1277451"/>
            <a:ext cx="5920331" cy="528845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228600" indent="-228600">
              <a:lnSpc>
                <a:spcPct val="72000"/>
              </a:lnSpc>
              <a:spcBef>
                <a:spcPts val="1000"/>
              </a:spcBef>
              <a:buSzPct val="100000"/>
              <a:buFont typeface="Arial"/>
              <a:buChar char="•"/>
              <a:defRPr sz="2300"/>
            </a:pPr>
            <a:r>
              <a:t>For </a:t>
            </a:r>
            <a:r>
              <a:rPr b="1"/>
              <a:t>histogram</a:t>
            </a:r>
            <a:r>
              <a:t> </a:t>
            </a:r>
            <a:r>
              <a:rPr b="1"/>
              <a:t>equalization,</a:t>
            </a:r>
            <a:r>
              <a:t> we tried to apply it to the training data and test data , as well as the final detector image, to see how the performance varies.</a:t>
            </a:r>
          </a:p>
          <a:p>
            <a:pPr marL="228600" indent="-228600">
              <a:lnSpc>
                <a:spcPct val="72000"/>
              </a:lnSpc>
              <a:spcBef>
                <a:spcPts val="1000"/>
              </a:spcBef>
              <a:buSzPct val="100000"/>
              <a:buFont typeface="Arial"/>
              <a:buChar char="•"/>
              <a:defRPr sz="2300"/>
            </a:pPr>
            <a:r>
              <a:t>In general, from testing during cross validation, performing histogram equalization on the training+test images tended to lower the accuracy of the models. So henceforth, all the model training/testing were performed with the histogram equalization option turned off. </a:t>
            </a:r>
          </a:p>
          <a:p>
            <a:pPr lvl="1" marL="685800" indent="-228600">
              <a:lnSpc>
                <a:spcPct val="72000"/>
              </a:lnSpc>
              <a:spcBef>
                <a:spcPts val="1000"/>
              </a:spcBef>
              <a:buSzPct val="100000"/>
              <a:buFont typeface="Arial"/>
              <a:buChar char="•"/>
              <a:defRPr sz="2300"/>
            </a:pPr>
            <a:r>
              <a:t>However, it is noticed that the accuracy from cross validation does not necessarily correlate closely to success in the detector phase. (We’ll see this later)</a:t>
            </a:r>
          </a:p>
        </p:txBody>
      </p:sp>
      <p:grpSp>
        <p:nvGrpSpPr>
          <p:cNvPr id="135" name="Group 20"/>
          <p:cNvGrpSpPr/>
          <p:nvPr/>
        </p:nvGrpSpPr>
        <p:grpSpPr>
          <a:xfrm>
            <a:off x="489130" y="1277451"/>
            <a:ext cx="4980983" cy="5288450"/>
            <a:chOff x="0" y="0"/>
            <a:chExt cx="4980981" cy="5288448"/>
          </a:xfrm>
        </p:grpSpPr>
        <p:pic>
          <p:nvPicPr>
            <p:cNvPr id="133" name="Picture 19" descr="Picture 19"/>
            <p:cNvPicPr>
              <a:picLocks noChangeAspect="1"/>
            </p:cNvPicPr>
            <p:nvPr/>
          </p:nvPicPr>
          <p:blipFill>
            <a:blip r:embed="rId2">
              <a:extLst/>
            </a:blip>
            <a:stretch>
              <a:fillRect/>
            </a:stretch>
          </p:blipFill>
          <p:spPr>
            <a:xfrm>
              <a:off x="-1" y="0"/>
              <a:ext cx="4980983" cy="5288449"/>
            </a:xfrm>
            <a:prstGeom prst="rect">
              <a:avLst/>
            </a:prstGeom>
            <a:ln w="9525" cap="flat">
              <a:solidFill>
                <a:srgbClr val="000000"/>
              </a:solidFill>
              <a:prstDash val="solid"/>
              <a:round/>
            </a:ln>
            <a:effectLst/>
          </p:spPr>
        </p:pic>
        <p:sp>
          <p:nvSpPr>
            <p:cNvPr id="134" name="Arrow: Down 16"/>
            <p:cNvSpPr/>
            <p:nvPr/>
          </p:nvSpPr>
          <p:spPr>
            <a:xfrm>
              <a:off x="2302529" y="2466423"/>
              <a:ext cx="375921" cy="3556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5429"/>
                  </a:moveTo>
                  <a:lnTo>
                    <a:pt x="8611" y="15429"/>
                  </a:lnTo>
                  <a:lnTo>
                    <a:pt x="8611" y="0"/>
                  </a:lnTo>
                  <a:lnTo>
                    <a:pt x="12989" y="0"/>
                  </a:lnTo>
                  <a:lnTo>
                    <a:pt x="12989" y="15429"/>
                  </a:lnTo>
                  <a:lnTo>
                    <a:pt x="21600" y="15429"/>
                  </a:lnTo>
                  <a:lnTo>
                    <a:pt x="10800" y="21600"/>
                  </a:lnTo>
                  <a:close/>
                </a:path>
              </a:pathLst>
            </a:custGeom>
            <a:solidFill>
              <a:srgbClr val="00B050"/>
            </a:solidFill>
            <a:ln w="19050" cap="flat">
              <a:solidFill>
                <a:srgbClr val="000000"/>
              </a:solidFill>
              <a:prstDash val="solid"/>
              <a:miter lim="800000"/>
            </a:ln>
            <a:effectLst/>
          </p:spPr>
          <p:txBody>
            <a:bodyPr wrap="square" lIns="45719" tIns="45719" rIns="45719" bIns="45719" numCol="1" anchor="ctr">
              <a:noAutofit/>
            </a:bodyPr>
            <a:lstStyle/>
            <a:p>
              <a:pPr algn="ctr">
                <a:defRPr>
                  <a:solidFill>
                    <a:srgbClr val="FFFFFF"/>
                  </a:solidFill>
                </a:defRPr>
              </a:pPr>
            </a:p>
          </p:txBody>
        </p:sp>
      </p:gr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Title 1"/>
          <p:cNvSpPr txBox="1"/>
          <p:nvPr>
            <p:ph type="title"/>
          </p:nvPr>
        </p:nvSpPr>
        <p:spPr>
          <a:xfrm>
            <a:off x="838200" y="365125"/>
            <a:ext cx="10515600" cy="745922"/>
          </a:xfrm>
          <a:prstGeom prst="rect">
            <a:avLst/>
          </a:prstGeom>
        </p:spPr>
        <p:txBody>
          <a:bodyPr/>
          <a:lstStyle>
            <a:lvl1pPr algn="ctr" defTabSz="886968">
              <a:defRPr sz="4268"/>
            </a:lvl1pPr>
          </a:lstStyle>
          <a:p>
            <a:pPr/>
            <a:r>
              <a:t>Histogram Equalization (on detector image)</a:t>
            </a:r>
          </a:p>
        </p:txBody>
      </p:sp>
      <p:sp>
        <p:nvSpPr>
          <p:cNvPr id="138" name="Content Placeholder 2"/>
          <p:cNvSpPr txBox="1"/>
          <p:nvPr>
            <p:ph type="body" sz="quarter" idx="1"/>
          </p:nvPr>
        </p:nvSpPr>
        <p:spPr>
          <a:xfrm>
            <a:off x="6735098" y="1231849"/>
            <a:ext cx="5240593" cy="2885546"/>
          </a:xfrm>
          <a:prstGeom prst="rect">
            <a:avLst/>
          </a:prstGeom>
        </p:spPr>
        <p:txBody>
          <a:bodyPr/>
          <a:lstStyle/>
          <a:p>
            <a:pPr marL="157734" indent="-157734" defTabSz="630936">
              <a:lnSpc>
                <a:spcPct val="81000"/>
              </a:lnSpc>
              <a:spcBef>
                <a:spcPts val="600"/>
              </a:spcBef>
              <a:defRPr sz="1518"/>
            </a:pPr>
            <a:r>
              <a:t>We tried histogram equalisation as the pre-processing method because it automatically finds the most details in an image.</a:t>
            </a:r>
          </a:p>
          <a:p>
            <a:pPr marL="157734" indent="-157734" defTabSz="630936">
              <a:lnSpc>
                <a:spcPct val="81000"/>
              </a:lnSpc>
              <a:spcBef>
                <a:spcPts val="600"/>
              </a:spcBef>
              <a:defRPr sz="1518"/>
            </a:pPr>
            <a:r>
              <a:t>It was off+on’d to all detector images, to see how the models would do on them. In general again the faces were not detected necessarily better.</a:t>
            </a:r>
          </a:p>
          <a:p>
            <a:pPr marL="157734" indent="-157734" defTabSz="630936">
              <a:lnSpc>
                <a:spcPct val="81000"/>
              </a:lnSpc>
              <a:spcBef>
                <a:spcPts val="600"/>
              </a:spcBef>
              <a:defRPr sz="1518"/>
            </a:pPr>
            <a:r>
              <a:t>Seen below, as a good example, it reveals the crowd a lot better.</a:t>
            </a:r>
          </a:p>
          <a:p>
            <a:pPr lvl="1" marL="473201" indent="-157734" defTabSz="630936">
              <a:lnSpc>
                <a:spcPct val="81000"/>
              </a:lnSpc>
              <a:spcBef>
                <a:spcPts val="600"/>
              </a:spcBef>
              <a:defRPr sz="1518"/>
            </a:pPr>
            <a:r>
              <a:t>… but in our testing, models did not fare better with it on too. (May be because Full Image descriptor was the only descriptor that worked well in general for us, and it doesn’t work well with histogram equalisation as compared to Haar, for example.)</a:t>
            </a:r>
          </a:p>
        </p:txBody>
      </p:sp>
      <p:grpSp>
        <p:nvGrpSpPr>
          <p:cNvPr id="141" name="Group 12"/>
          <p:cNvGrpSpPr/>
          <p:nvPr/>
        </p:nvGrpSpPr>
        <p:grpSpPr>
          <a:xfrm>
            <a:off x="146741" y="1231850"/>
            <a:ext cx="6411376" cy="2885545"/>
            <a:chOff x="0" y="0"/>
            <a:chExt cx="6411374" cy="2885544"/>
          </a:xfrm>
        </p:grpSpPr>
        <p:pic>
          <p:nvPicPr>
            <p:cNvPr id="139" name="Picture 4" descr="Picture 4"/>
            <p:cNvPicPr>
              <a:picLocks noChangeAspect="1"/>
            </p:cNvPicPr>
            <p:nvPr/>
          </p:nvPicPr>
          <p:blipFill>
            <a:blip r:embed="rId2">
              <a:extLst/>
            </a:blip>
            <a:stretch>
              <a:fillRect/>
            </a:stretch>
          </p:blipFill>
          <p:spPr>
            <a:xfrm>
              <a:off x="0" y="0"/>
              <a:ext cx="6411375" cy="2885545"/>
            </a:xfrm>
            <a:prstGeom prst="rect">
              <a:avLst/>
            </a:prstGeom>
            <a:ln w="9525" cap="flat">
              <a:solidFill>
                <a:srgbClr val="000000"/>
              </a:solidFill>
              <a:prstDash val="solid"/>
              <a:round/>
            </a:ln>
            <a:effectLst/>
          </p:spPr>
        </p:pic>
        <p:sp>
          <p:nvSpPr>
            <p:cNvPr id="140" name="Arrow: Right 10"/>
            <p:cNvSpPr/>
            <p:nvPr/>
          </p:nvSpPr>
          <p:spPr>
            <a:xfrm>
              <a:off x="2900887" y="1442392"/>
              <a:ext cx="609601" cy="220980"/>
            </a:xfrm>
            <a:prstGeom prst="rightArrow">
              <a:avLst>
                <a:gd name="adj1" fmla="val 50000"/>
                <a:gd name="adj2" fmla="val 50000"/>
              </a:avLst>
            </a:prstGeom>
            <a:solidFill>
              <a:srgbClr val="00B050"/>
            </a:solidFill>
            <a:ln w="19050" cap="flat">
              <a:solidFill>
                <a:srgbClr val="000000"/>
              </a:solidFill>
              <a:prstDash val="solid"/>
              <a:miter lim="800000"/>
            </a:ln>
            <a:effectLst/>
          </p:spPr>
          <p:txBody>
            <a:bodyPr wrap="square" lIns="45719" tIns="45719" rIns="45719" bIns="45719" numCol="1" anchor="ctr">
              <a:noAutofit/>
            </a:bodyPr>
            <a:lstStyle/>
            <a:p>
              <a:pPr algn="ctr">
                <a:defRPr>
                  <a:solidFill>
                    <a:srgbClr val="FFFFFF"/>
                  </a:solidFill>
                </a:defRPr>
              </a:pPr>
            </a:p>
          </p:txBody>
        </p:sp>
      </p:grpSp>
      <p:grpSp>
        <p:nvGrpSpPr>
          <p:cNvPr id="144" name="Group 13"/>
          <p:cNvGrpSpPr/>
          <p:nvPr/>
        </p:nvGrpSpPr>
        <p:grpSpPr>
          <a:xfrm>
            <a:off x="0" y="4207445"/>
            <a:ext cx="12192000" cy="2660432"/>
            <a:chOff x="0" y="0"/>
            <a:chExt cx="12192000" cy="2660431"/>
          </a:xfrm>
        </p:grpSpPr>
        <p:pic>
          <p:nvPicPr>
            <p:cNvPr id="142" name="Picture 9" descr="Picture 9"/>
            <p:cNvPicPr>
              <a:picLocks noChangeAspect="1"/>
            </p:cNvPicPr>
            <p:nvPr/>
          </p:nvPicPr>
          <p:blipFill>
            <a:blip r:embed="rId3">
              <a:extLst/>
            </a:blip>
            <a:stretch>
              <a:fillRect/>
            </a:stretch>
          </p:blipFill>
          <p:spPr>
            <a:xfrm>
              <a:off x="0" y="0"/>
              <a:ext cx="12192000" cy="2660432"/>
            </a:xfrm>
            <a:prstGeom prst="rect">
              <a:avLst/>
            </a:prstGeom>
            <a:ln w="12700" cap="flat">
              <a:noFill/>
              <a:miter lim="400000"/>
            </a:ln>
            <a:effectLst/>
          </p:spPr>
        </p:pic>
        <p:sp>
          <p:nvSpPr>
            <p:cNvPr id="143" name="Arrow: Right 11"/>
            <p:cNvSpPr/>
            <p:nvPr/>
          </p:nvSpPr>
          <p:spPr>
            <a:xfrm>
              <a:off x="5791200" y="1330215"/>
              <a:ext cx="609600" cy="220981"/>
            </a:xfrm>
            <a:prstGeom prst="rightArrow">
              <a:avLst>
                <a:gd name="adj1" fmla="val 50000"/>
                <a:gd name="adj2" fmla="val 50000"/>
              </a:avLst>
            </a:prstGeom>
            <a:solidFill>
              <a:srgbClr val="00B050"/>
            </a:solidFill>
            <a:ln w="19050" cap="flat">
              <a:solidFill>
                <a:srgbClr val="000000"/>
              </a:solidFill>
              <a:prstDash val="solid"/>
              <a:miter lim="800000"/>
            </a:ln>
            <a:effectLst/>
          </p:spPr>
          <p:txBody>
            <a:bodyPr wrap="square" lIns="45719" tIns="45719" rIns="45719" bIns="45719" numCol="1" anchor="ctr">
              <a:noAutofit/>
            </a:bodyPr>
            <a:lstStyle/>
            <a:p>
              <a:pPr algn="ctr">
                <a:defRPr>
                  <a:solidFill>
                    <a:srgbClr val="FFFFFF"/>
                  </a:solidFill>
                </a:defRPr>
              </a:pPr>
            </a:p>
          </p:txBody>
        </p:sp>
      </p:gr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Title 1"/>
          <p:cNvSpPr txBox="1"/>
          <p:nvPr>
            <p:ph type="title"/>
          </p:nvPr>
        </p:nvSpPr>
        <p:spPr>
          <a:xfrm>
            <a:off x="838200" y="258788"/>
            <a:ext cx="10515600" cy="1325563"/>
          </a:xfrm>
          <a:prstGeom prst="rect">
            <a:avLst/>
          </a:prstGeom>
        </p:spPr>
        <p:txBody>
          <a:bodyPr/>
          <a:lstStyle/>
          <a:p>
            <a:pPr defTabSz="850391">
              <a:defRPr sz="3627"/>
            </a:pPr>
            <a:r>
              <a:t>Full Image → KNN – Notable evaluation </a:t>
            </a:r>
            <a:br/>
            <a:r>
              <a:t>Histogram Equalization OFF on training + test data</a:t>
            </a:r>
          </a:p>
        </p:txBody>
      </p:sp>
      <p:sp>
        <p:nvSpPr>
          <p:cNvPr id="147" name="Content Placeholder 6"/>
          <p:cNvSpPr txBox="1"/>
          <p:nvPr>
            <p:ph type="body" sz="half" idx="1"/>
          </p:nvPr>
        </p:nvSpPr>
        <p:spPr>
          <a:xfrm>
            <a:off x="8186932" y="1584350"/>
            <a:ext cx="3812459" cy="4763813"/>
          </a:xfrm>
          <a:prstGeom prst="rect">
            <a:avLst/>
          </a:prstGeom>
        </p:spPr>
        <p:txBody>
          <a:bodyPr/>
          <a:lstStyle>
            <a:lvl1pPr>
              <a:lnSpc>
                <a:spcPct val="72000"/>
              </a:lnSpc>
              <a:defRPr sz="2500"/>
            </a:lvl1pPr>
          </a:lstStyle>
          <a:p>
            <a:pPr/>
            <a:r>
              <a:t>Note how the woman with darker skin tone was noted more confidently after histogram evaluation. This is probably due to how the model learned off of white faces, and full image as a feature descriptor does exactly that, as compared to Haar features for example, which perform calculations relative within a face.</a:t>
            </a:r>
          </a:p>
        </p:txBody>
      </p:sp>
      <p:pic>
        <p:nvPicPr>
          <p:cNvPr id="148" name="Picture 8" descr="Picture 8"/>
          <p:cNvPicPr>
            <a:picLocks noChangeAspect="1"/>
          </p:cNvPicPr>
          <p:nvPr/>
        </p:nvPicPr>
        <p:blipFill>
          <a:blip r:embed="rId2">
            <a:extLst/>
          </a:blip>
          <a:stretch>
            <a:fillRect/>
          </a:stretch>
        </p:blipFill>
        <p:spPr>
          <a:xfrm>
            <a:off x="138976" y="1569999"/>
            <a:ext cx="7851383" cy="3690259"/>
          </a:xfrm>
          <a:prstGeom prst="rect">
            <a:avLst/>
          </a:prstGeom>
          <a:ln w="12700">
            <a:miter lim="400000"/>
          </a:ln>
        </p:spPr>
      </p:pic>
      <p:pic>
        <p:nvPicPr>
          <p:cNvPr id="149" name="Picture 10" descr="Picture 10"/>
          <p:cNvPicPr>
            <a:picLocks noChangeAspect="1"/>
          </p:cNvPicPr>
          <p:nvPr/>
        </p:nvPicPr>
        <p:blipFill>
          <a:blip r:embed="rId3">
            <a:extLst/>
          </a:blip>
          <a:stretch>
            <a:fillRect/>
          </a:stretch>
        </p:blipFill>
        <p:spPr>
          <a:xfrm>
            <a:off x="2098838" y="5524698"/>
            <a:ext cx="3482644" cy="1074514"/>
          </a:xfrm>
          <a:prstGeom prst="rect">
            <a:avLst/>
          </a:prstGeom>
          <a:ln>
            <a:solidFill>
              <a:srgbClr val="000000"/>
            </a:solidFill>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Content Placeholder 2"/>
          <p:cNvSpPr txBox="1"/>
          <p:nvPr>
            <p:ph type="body" sz="quarter" idx="1"/>
          </p:nvPr>
        </p:nvSpPr>
        <p:spPr>
          <a:xfrm>
            <a:off x="8417238" y="1592366"/>
            <a:ext cx="3468330" cy="4351338"/>
          </a:xfrm>
          <a:prstGeom prst="rect">
            <a:avLst/>
          </a:prstGeom>
        </p:spPr>
        <p:txBody>
          <a:bodyPr/>
          <a:lstStyle/>
          <a:p>
            <a:pPr/>
            <a:r>
              <a:t>Despite the accuracy going down when histogram equalization is turned on for training+testing, the detector seems to have slightly better success.</a:t>
            </a:r>
          </a:p>
        </p:txBody>
      </p:sp>
      <p:sp>
        <p:nvSpPr>
          <p:cNvPr id="152" name="Title 1"/>
          <p:cNvSpPr txBox="1"/>
          <p:nvPr>
            <p:ph type="title"/>
          </p:nvPr>
        </p:nvSpPr>
        <p:spPr>
          <a:xfrm>
            <a:off x="838200" y="394621"/>
            <a:ext cx="10515600" cy="1325564"/>
          </a:xfrm>
          <a:prstGeom prst="rect">
            <a:avLst/>
          </a:prstGeom>
        </p:spPr>
        <p:txBody>
          <a:bodyPr/>
          <a:lstStyle/>
          <a:p>
            <a:pPr defTabSz="868680">
              <a:defRPr sz="3705"/>
            </a:pPr>
            <a:r>
              <a:t>Full Image → KNN – Notable evaluation </a:t>
            </a:r>
            <a:br/>
            <a:r>
              <a:t>Histogram Equalization ON on training + test data</a:t>
            </a:r>
          </a:p>
        </p:txBody>
      </p:sp>
      <p:pic>
        <p:nvPicPr>
          <p:cNvPr id="153" name="Picture 5" descr="Picture 5"/>
          <p:cNvPicPr>
            <a:picLocks noChangeAspect="1"/>
          </p:cNvPicPr>
          <p:nvPr/>
        </p:nvPicPr>
        <p:blipFill>
          <a:blip r:embed="rId2">
            <a:extLst/>
          </a:blip>
          <a:stretch>
            <a:fillRect/>
          </a:stretch>
        </p:blipFill>
        <p:spPr>
          <a:xfrm>
            <a:off x="78651" y="1592365"/>
            <a:ext cx="8127193" cy="3837511"/>
          </a:xfrm>
          <a:prstGeom prst="rect">
            <a:avLst/>
          </a:prstGeom>
          <a:ln w="12700">
            <a:miter lim="400000"/>
          </a:ln>
        </p:spPr>
      </p:pic>
      <p:pic>
        <p:nvPicPr>
          <p:cNvPr id="154" name="Picture 7" descr="Picture 7"/>
          <p:cNvPicPr>
            <a:picLocks noChangeAspect="1"/>
          </p:cNvPicPr>
          <p:nvPr/>
        </p:nvPicPr>
        <p:blipFill>
          <a:blip r:embed="rId3">
            <a:extLst/>
          </a:blip>
          <a:stretch>
            <a:fillRect/>
          </a:stretch>
        </p:blipFill>
        <p:spPr>
          <a:xfrm>
            <a:off x="2332340" y="5571545"/>
            <a:ext cx="3619814" cy="1036411"/>
          </a:xfrm>
          <a:prstGeom prst="rect">
            <a:avLst/>
          </a:prstGeom>
          <a:ln>
            <a:solidFill>
              <a:srgbClr val="000000"/>
            </a:solidFill>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Title 1"/>
          <p:cNvSpPr txBox="1"/>
          <p:nvPr>
            <p:ph type="title"/>
          </p:nvPr>
        </p:nvSpPr>
        <p:spPr>
          <a:xfrm>
            <a:off x="2281930" y="2324690"/>
            <a:ext cx="10515601" cy="1325564"/>
          </a:xfrm>
          <a:prstGeom prst="rect">
            <a:avLst/>
          </a:prstGeom>
        </p:spPr>
        <p:txBody>
          <a:bodyPr/>
          <a:lstStyle/>
          <a:p>
            <a:pPr>
              <a:defRPr sz="2400"/>
            </a:pPr>
            <a:r>
              <a:t>Histogram</a:t>
            </a:r>
            <a:br/>
            <a:r>
              <a:t>Equalization</a:t>
            </a:r>
            <a:br/>
            <a:r>
              <a:t>OFF:</a:t>
            </a:r>
          </a:p>
        </p:txBody>
      </p:sp>
      <p:pic>
        <p:nvPicPr>
          <p:cNvPr id="157" name="Picture 4" descr="Picture 4"/>
          <p:cNvPicPr>
            <a:picLocks noChangeAspect="1"/>
          </p:cNvPicPr>
          <p:nvPr/>
        </p:nvPicPr>
        <p:blipFill>
          <a:blip r:embed="rId2">
            <a:extLst/>
          </a:blip>
          <a:stretch>
            <a:fillRect/>
          </a:stretch>
        </p:blipFill>
        <p:spPr>
          <a:xfrm>
            <a:off x="3893575" y="3580448"/>
            <a:ext cx="7292311" cy="3098114"/>
          </a:xfrm>
          <a:prstGeom prst="rect">
            <a:avLst/>
          </a:prstGeom>
          <a:ln w="12700">
            <a:miter lim="400000"/>
          </a:ln>
        </p:spPr>
      </p:pic>
      <p:pic>
        <p:nvPicPr>
          <p:cNvPr id="158" name="Picture 6" descr="Picture 6"/>
          <p:cNvPicPr>
            <a:picLocks noChangeAspect="1"/>
          </p:cNvPicPr>
          <p:nvPr/>
        </p:nvPicPr>
        <p:blipFill>
          <a:blip r:embed="rId3">
            <a:extLst/>
          </a:blip>
          <a:stretch>
            <a:fillRect/>
          </a:stretch>
        </p:blipFill>
        <p:spPr>
          <a:xfrm>
            <a:off x="3867610" y="340674"/>
            <a:ext cx="7486190" cy="3239774"/>
          </a:xfrm>
          <a:prstGeom prst="rect">
            <a:avLst/>
          </a:prstGeom>
          <a:ln w="12700">
            <a:miter lim="400000"/>
          </a:ln>
        </p:spPr>
      </p:pic>
      <p:sp>
        <p:nvSpPr>
          <p:cNvPr id="159" name="Title 1"/>
          <p:cNvSpPr txBox="1"/>
          <p:nvPr/>
        </p:nvSpPr>
        <p:spPr>
          <a:xfrm>
            <a:off x="2327650" y="3592622"/>
            <a:ext cx="10424161" cy="132556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lnSpc>
                <a:spcPct val="90000"/>
              </a:lnSpc>
              <a:defRPr sz="2300">
                <a:latin typeface="Aptos Display"/>
                <a:ea typeface="Aptos Display"/>
                <a:cs typeface="Aptos Display"/>
                <a:sym typeface="Aptos Display"/>
              </a:defRPr>
            </a:pPr>
            <a:r>
              <a:t>Histogram</a:t>
            </a:r>
            <a:br/>
            <a:r>
              <a:rPr sz="2400"/>
              <a:t>Equalization</a:t>
            </a:r>
            <a:br>
              <a:rPr sz="2400"/>
            </a:br>
            <a:r>
              <a:t>ON:</a:t>
            </a:r>
          </a:p>
        </p:txBody>
      </p:sp>
      <p:sp>
        <p:nvSpPr>
          <p:cNvPr id="160" name="Title 1"/>
          <p:cNvSpPr txBox="1"/>
          <p:nvPr/>
        </p:nvSpPr>
        <p:spPr>
          <a:xfrm>
            <a:off x="45719" y="1297779"/>
            <a:ext cx="10424162" cy="132556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nSpc>
                <a:spcPct val="90000"/>
              </a:lnSpc>
              <a:defRPr sz="3500">
                <a:latin typeface="Aptos Display"/>
                <a:ea typeface="Aptos Display"/>
                <a:cs typeface="Aptos Display"/>
                <a:sym typeface="Aptos Display"/>
              </a:defRPr>
            </a:lvl1pPr>
          </a:lstStyle>
          <a:p>
            <a:pPr/>
            <a:r>
              <a:t>On detector image…</a:t>
            </a:r>
          </a:p>
        </p:txBody>
      </p:sp>
      <p:sp>
        <p:nvSpPr>
          <p:cNvPr id="161" name="Title 1"/>
          <p:cNvSpPr txBox="1"/>
          <p:nvPr/>
        </p:nvSpPr>
        <p:spPr>
          <a:xfrm>
            <a:off x="289069" y="318847"/>
            <a:ext cx="10424161" cy="112268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90000"/>
              </a:lnSpc>
              <a:defRPr sz="2400">
                <a:latin typeface="Aptos Display"/>
                <a:ea typeface="Aptos Display"/>
                <a:cs typeface="Aptos Display"/>
                <a:sym typeface="Aptos Display"/>
              </a:defRPr>
            </a:pPr>
            <a:r>
              <a:t>Histogram</a:t>
            </a:r>
            <a:br/>
            <a:r>
              <a:t>Equalization</a:t>
            </a:r>
            <a:br/>
            <a:r>
              <a:t>on training data OFF…</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Title 1"/>
          <p:cNvSpPr txBox="1"/>
          <p:nvPr>
            <p:ph type="title"/>
          </p:nvPr>
        </p:nvSpPr>
        <p:spPr>
          <a:xfrm>
            <a:off x="2281930" y="2324690"/>
            <a:ext cx="10515601" cy="1325564"/>
          </a:xfrm>
          <a:prstGeom prst="rect">
            <a:avLst/>
          </a:prstGeom>
        </p:spPr>
        <p:txBody>
          <a:bodyPr/>
          <a:lstStyle/>
          <a:p>
            <a:pPr>
              <a:defRPr sz="2400"/>
            </a:pPr>
            <a:r>
              <a:t>Histogram</a:t>
            </a:r>
            <a:br/>
            <a:r>
              <a:t>Equalization</a:t>
            </a:r>
            <a:br/>
            <a:r>
              <a:t>OFF:</a:t>
            </a:r>
          </a:p>
        </p:txBody>
      </p:sp>
      <p:sp>
        <p:nvSpPr>
          <p:cNvPr id="164" name="Title 1"/>
          <p:cNvSpPr txBox="1"/>
          <p:nvPr/>
        </p:nvSpPr>
        <p:spPr>
          <a:xfrm>
            <a:off x="2327650" y="3592622"/>
            <a:ext cx="10424161" cy="132556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lnSpc>
                <a:spcPct val="90000"/>
              </a:lnSpc>
              <a:defRPr sz="2300">
                <a:latin typeface="Aptos Display"/>
                <a:ea typeface="Aptos Display"/>
                <a:cs typeface="Aptos Display"/>
                <a:sym typeface="Aptos Display"/>
              </a:defRPr>
            </a:pPr>
            <a:r>
              <a:t>Histogram</a:t>
            </a:r>
            <a:br/>
            <a:r>
              <a:rPr sz="2400"/>
              <a:t>Equalization</a:t>
            </a:r>
            <a:br>
              <a:rPr sz="2400"/>
            </a:br>
            <a:r>
              <a:t>ON:</a:t>
            </a:r>
          </a:p>
        </p:txBody>
      </p:sp>
      <p:sp>
        <p:nvSpPr>
          <p:cNvPr id="165" name="Title 1"/>
          <p:cNvSpPr txBox="1"/>
          <p:nvPr/>
        </p:nvSpPr>
        <p:spPr>
          <a:xfrm>
            <a:off x="45719" y="1297779"/>
            <a:ext cx="10424162" cy="132556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nSpc>
                <a:spcPct val="90000"/>
              </a:lnSpc>
              <a:defRPr sz="3500">
                <a:latin typeface="Aptos Display"/>
                <a:ea typeface="Aptos Display"/>
                <a:cs typeface="Aptos Display"/>
                <a:sym typeface="Aptos Display"/>
              </a:defRPr>
            </a:lvl1pPr>
          </a:lstStyle>
          <a:p>
            <a:pPr/>
            <a:r>
              <a:t>On detector image…</a:t>
            </a:r>
          </a:p>
        </p:txBody>
      </p:sp>
      <p:sp>
        <p:nvSpPr>
          <p:cNvPr id="166" name="Title 1"/>
          <p:cNvSpPr txBox="1"/>
          <p:nvPr/>
        </p:nvSpPr>
        <p:spPr>
          <a:xfrm>
            <a:off x="289069" y="318847"/>
            <a:ext cx="10424161" cy="112268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90000"/>
              </a:lnSpc>
              <a:defRPr sz="2400">
                <a:latin typeface="Aptos Display"/>
                <a:ea typeface="Aptos Display"/>
                <a:cs typeface="Aptos Display"/>
                <a:sym typeface="Aptos Display"/>
              </a:defRPr>
            </a:pPr>
            <a:r>
              <a:t>Histogram</a:t>
            </a:r>
            <a:br/>
            <a:r>
              <a:t>Equalization</a:t>
            </a:r>
            <a:br/>
            <a:r>
              <a:t>on training data ON…</a:t>
            </a:r>
          </a:p>
        </p:txBody>
      </p:sp>
      <p:pic>
        <p:nvPicPr>
          <p:cNvPr id="167" name="Picture 3" descr="Picture 3"/>
          <p:cNvPicPr>
            <a:picLocks noChangeAspect="1"/>
          </p:cNvPicPr>
          <p:nvPr/>
        </p:nvPicPr>
        <p:blipFill>
          <a:blip r:embed="rId2">
            <a:extLst/>
          </a:blip>
          <a:stretch>
            <a:fillRect/>
          </a:stretch>
        </p:blipFill>
        <p:spPr>
          <a:xfrm>
            <a:off x="3893575" y="439430"/>
            <a:ext cx="7292311" cy="3084772"/>
          </a:xfrm>
          <a:prstGeom prst="rect">
            <a:avLst/>
          </a:prstGeom>
          <a:ln w="12700">
            <a:miter lim="400000"/>
          </a:ln>
        </p:spPr>
      </p:pic>
      <p:pic>
        <p:nvPicPr>
          <p:cNvPr id="168" name="Picture 10" descr="Picture 10"/>
          <p:cNvPicPr>
            <a:picLocks noChangeAspect="1"/>
          </p:cNvPicPr>
          <p:nvPr/>
        </p:nvPicPr>
        <p:blipFill>
          <a:blip r:embed="rId3">
            <a:extLst/>
          </a:blip>
          <a:stretch>
            <a:fillRect/>
          </a:stretch>
        </p:blipFill>
        <p:spPr>
          <a:xfrm>
            <a:off x="3893575" y="3592622"/>
            <a:ext cx="7292311" cy="3141479"/>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Title 1"/>
          <p:cNvSpPr txBox="1"/>
          <p:nvPr>
            <p:ph type="title"/>
          </p:nvPr>
        </p:nvSpPr>
        <p:spPr>
          <a:xfrm>
            <a:off x="838200" y="237306"/>
            <a:ext cx="10515600" cy="824578"/>
          </a:xfrm>
          <a:prstGeom prst="rect">
            <a:avLst/>
          </a:prstGeom>
        </p:spPr>
        <p:txBody>
          <a:bodyPr/>
          <a:lstStyle>
            <a:lvl1pPr algn="ctr"/>
          </a:lstStyle>
          <a:p>
            <a:pPr/>
            <a:r>
              <a:t>Data Augmentation</a:t>
            </a:r>
          </a:p>
        </p:txBody>
      </p:sp>
      <p:pic>
        <p:nvPicPr>
          <p:cNvPr id="171" name="Picture 8" descr="Picture 8"/>
          <p:cNvPicPr>
            <a:picLocks noChangeAspect="1"/>
          </p:cNvPicPr>
          <p:nvPr/>
        </p:nvPicPr>
        <p:blipFill>
          <a:blip r:embed="rId2">
            <a:extLst/>
          </a:blip>
          <a:stretch>
            <a:fillRect/>
          </a:stretch>
        </p:blipFill>
        <p:spPr>
          <a:xfrm>
            <a:off x="218416" y="3517598"/>
            <a:ext cx="5265877" cy="3185437"/>
          </a:xfrm>
          <a:prstGeom prst="rect">
            <a:avLst/>
          </a:prstGeom>
          <a:ln>
            <a:solidFill>
              <a:srgbClr val="000000"/>
            </a:solidFill>
          </a:ln>
        </p:spPr>
      </p:pic>
      <p:sp>
        <p:nvSpPr>
          <p:cNvPr id="172" name="Subtitle 2"/>
          <p:cNvSpPr txBox="1"/>
          <p:nvPr/>
        </p:nvSpPr>
        <p:spPr>
          <a:xfrm>
            <a:off x="5846751" y="1277451"/>
            <a:ext cx="5920332" cy="4008132"/>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marL="228600" indent="-228600">
              <a:lnSpc>
                <a:spcPct val="90000"/>
              </a:lnSpc>
              <a:spcBef>
                <a:spcPts val="1000"/>
              </a:spcBef>
              <a:buSzPct val="100000"/>
              <a:buFont typeface="Arial"/>
              <a:buChar char="•"/>
              <a:defRPr sz="2800"/>
            </a:lvl1pPr>
          </a:lstStyle>
          <a:p>
            <a:pPr/>
            <a:r>
              <a:t>Data Augmentation was also added to the first version and every later ones to give more training data for the model to boost accuracy. The data set increased from 124 images to 910.</a:t>
            </a:r>
          </a:p>
        </p:txBody>
      </p:sp>
      <p:grpSp>
        <p:nvGrpSpPr>
          <p:cNvPr id="183" name="Group 34"/>
          <p:cNvGrpSpPr/>
          <p:nvPr/>
        </p:nvGrpSpPr>
        <p:grpSpPr>
          <a:xfrm>
            <a:off x="513309" y="1119436"/>
            <a:ext cx="4541008" cy="2162082"/>
            <a:chOff x="0" y="0"/>
            <a:chExt cx="4541006" cy="2162081"/>
          </a:xfrm>
        </p:grpSpPr>
        <p:pic>
          <p:nvPicPr>
            <p:cNvPr id="173" name="Picture 13" descr="Picture 13"/>
            <p:cNvPicPr>
              <a:picLocks noChangeAspect="1"/>
            </p:cNvPicPr>
            <p:nvPr/>
          </p:nvPicPr>
          <p:blipFill>
            <a:blip r:embed="rId3">
              <a:extLst/>
            </a:blip>
            <a:stretch>
              <a:fillRect/>
            </a:stretch>
          </p:blipFill>
          <p:spPr>
            <a:xfrm>
              <a:off x="0" y="0"/>
              <a:ext cx="4541007" cy="2162082"/>
            </a:xfrm>
            <a:prstGeom prst="rect">
              <a:avLst/>
            </a:prstGeom>
            <a:ln w="9525" cap="flat">
              <a:solidFill>
                <a:srgbClr val="000000"/>
              </a:solidFill>
              <a:prstDash val="solid"/>
              <a:round/>
            </a:ln>
            <a:effectLst/>
          </p:spPr>
        </p:pic>
        <p:sp>
          <p:nvSpPr>
            <p:cNvPr id="174" name="Straight Arrow Connector 15"/>
            <p:cNvSpPr/>
            <p:nvPr/>
          </p:nvSpPr>
          <p:spPr>
            <a:xfrm flipH="1">
              <a:off x="514881" y="556963"/>
              <a:ext cx="944881" cy="706121"/>
            </a:xfrm>
            <a:prstGeom prst="line">
              <a:avLst/>
            </a:prstGeom>
            <a:noFill/>
            <a:ln w="19050" cap="flat">
              <a:solidFill>
                <a:srgbClr val="47D45A"/>
              </a:solidFill>
              <a:prstDash val="solid"/>
              <a:miter lim="800000"/>
              <a:tailEnd type="triangle" w="med" len="med"/>
            </a:ln>
            <a:effectLst/>
          </p:spPr>
          <p:txBody>
            <a:bodyPr wrap="square" lIns="45719" tIns="45719" rIns="45719" bIns="45719" numCol="1" anchor="t">
              <a:noAutofit/>
            </a:bodyPr>
            <a:lstStyle/>
            <a:p>
              <a:pPr/>
            </a:p>
          </p:txBody>
        </p:sp>
        <p:sp>
          <p:nvSpPr>
            <p:cNvPr id="175" name="Straight Arrow Connector 17"/>
            <p:cNvSpPr/>
            <p:nvPr/>
          </p:nvSpPr>
          <p:spPr>
            <a:xfrm flipH="1">
              <a:off x="1342921" y="910024"/>
              <a:ext cx="228601" cy="410613"/>
            </a:xfrm>
            <a:prstGeom prst="line">
              <a:avLst/>
            </a:prstGeom>
            <a:noFill/>
            <a:ln w="19050" cap="flat">
              <a:solidFill>
                <a:srgbClr val="47D45A"/>
              </a:solidFill>
              <a:prstDash val="solid"/>
              <a:miter lim="800000"/>
              <a:tailEnd type="triangle" w="med" len="med"/>
            </a:ln>
            <a:effectLst/>
          </p:spPr>
          <p:txBody>
            <a:bodyPr wrap="square" lIns="45719" tIns="45719" rIns="45719" bIns="45719" numCol="1" anchor="t">
              <a:noAutofit/>
            </a:bodyPr>
            <a:lstStyle/>
            <a:p>
              <a:pPr/>
            </a:p>
          </p:txBody>
        </p:sp>
        <p:sp>
          <p:nvSpPr>
            <p:cNvPr id="176" name="Straight Arrow Connector 21"/>
            <p:cNvSpPr/>
            <p:nvPr/>
          </p:nvSpPr>
          <p:spPr>
            <a:xfrm>
              <a:off x="2088943" y="875733"/>
              <a:ext cx="251646" cy="444904"/>
            </a:xfrm>
            <a:prstGeom prst="line">
              <a:avLst/>
            </a:prstGeom>
            <a:noFill/>
            <a:ln w="19050" cap="flat">
              <a:solidFill>
                <a:srgbClr val="47D45A"/>
              </a:solidFill>
              <a:prstDash val="solid"/>
              <a:miter lim="800000"/>
              <a:tailEnd type="triangle" w="med" len="med"/>
            </a:ln>
            <a:effectLst/>
          </p:spPr>
          <p:txBody>
            <a:bodyPr wrap="square" lIns="45719" tIns="45719" rIns="45719" bIns="45719" numCol="1" anchor="t">
              <a:noAutofit/>
            </a:bodyPr>
            <a:lstStyle/>
            <a:p>
              <a:pPr/>
            </a:p>
          </p:txBody>
        </p:sp>
        <p:sp>
          <p:nvSpPr>
            <p:cNvPr id="177" name="Straight Arrow Connector 25"/>
            <p:cNvSpPr/>
            <p:nvPr/>
          </p:nvSpPr>
          <p:spPr>
            <a:xfrm>
              <a:off x="2199157" y="556963"/>
              <a:ext cx="1114805" cy="706121"/>
            </a:xfrm>
            <a:prstGeom prst="line">
              <a:avLst/>
            </a:prstGeom>
            <a:noFill/>
            <a:ln w="19050" cap="flat">
              <a:solidFill>
                <a:srgbClr val="47D45A"/>
              </a:solidFill>
              <a:prstDash val="solid"/>
              <a:miter lim="800000"/>
              <a:tailEnd type="triangle" w="med" len="med"/>
            </a:ln>
            <a:effectLst/>
          </p:spPr>
          <p:txBody>
            <a:bodyPr wrap="square" lIns="45719" tIns="45719" rIns="45719" bIns="45719" numCol="1" anchor="t">
              <a:noAutofit/>
            </a:bodyPr>
            <a:lstStyle/>
            <a:p>
              <a:pPr/>
            </a:p>
          </p:txBody>
        </p:sp>
        <p:sp>
          <p:nvSpPr>
            <p:cNvPr id="178" name="Straight Arrow Connector 28"/>
            <p:cNvSpPr/>
            <p:nvPr/>
          </p:nvSpPr>
          <p:spPr>
            <a:xfrm>
              <a:off x="2214765" y="392065"/>
              <a:ext cx="1854202" cy="885009"/>
            </a:xfrm>
            <a:prstGeom prst="line">
              <a:avLst/>
            </a:prstGeom>
            <a:noFill/>
            <a:ln w="19050" cap="flat">
              <a:solidFill>
                <a:srgbClr val="47D45A"/>
              </a:solidFill>
              <a:prstDash val="solid"/>
              <a:miter lim="800000"/>
              <a:tailEnd type="triangle" w="med" len="med"/>
            </a:ln>
            <a:effectLst/>
          </p:spPr>
          <p:txBody>
            <a:bodyPr wrap="square" lIns="45719" tIns="45719" rIns="45719" bIns="45719" numCol="1" anchor="t">
              <a:noAutofit/>
            </a:bodyPr>
            <a:lstStyle/>
            <a:p>
              <a:pPr/>
            </a:p>
          </p:txBody>
        </p:sp>
        <p:grpSp>
          <p:nvGrpSpPr>
            <p:cNvPr id="182" name="Group 33"/>
            <p:cNvGrpSpPr/>
            <p:nvPr/>
          </p:nvGrpSpPr>
          <p:grpSpPr>
            <a:xfrm>
              <a:off x="3945460" y="1643214"/>
              <a:ext cx="247012" cy="51848"/>
              <a:chOff x="0" y="0"/>
              <a:chExt cx="247011" cy="51847"/>
            </a:xfrm>
          </p:grpSpPr>
          <p:sp>
            <p:nvSpPr>
              <p:cNvPr id="179" name="Oval 30"/>
              <p:cNvSpPr/>
              <p:nvPr/>
            </p:nvSpPr>
            <p:spPr>
              <a:xfrm>
                <a:off x="-1" y="704"/>
                <a:ext cx="53399" cy="51144"/>
              </a:xfrm>
              <a:prstGeom prst="ellipse">
                <a:avLst/>
              </a:prstGeom>
              <a:solidFill>
                <a:srgbClr val="000000"/>
              </a:solidFill>
              <a:ln w="19050" cap="flat">
                <a:solidFill>
                  <a:srgbClr val="092937"/>
                </a:solidFill>
                <a:prstDash val="solid"/>
                <a:miter lim="800000"/>
              </a:ln>
              <a:effectLst/>
            </p:spPr>
            <p:txBody>
              <a:bodyPr wrap="square" lIns="45719" tIns="45719" rIns="45719" bIns="45719" numCol="1" anchor="ctr">
                <a:noAutofit/>
              </a:bodyPr>
              <a:lstStyle/>
              <a:p>
                <a:pPr algn="ctr">
                  <a:defRPr>
                    <a:solidFill>
                      <a:srgbClr val="FFFFFF"/>
                    </a:solidFill>
                  </a:defRPr>
                </a:pPr>
              </a:p>
            </p:txBody>
          </p:sp>
          <p:sp>
            <p:nvSpPr>
              <p:cNvPr id="180" name="Oval 31"/>
              <p:cNvSpPr/>
              <p:nvPr/>
            </p:nvSpPr>
            <p:spPr>
              <a:xfrm>
                <a:off x="94603" y="0"/>
                <a:ext cx="53399" cy="51144"/>
              </a:xfrm>
              <a:prstGeom prst="ellipse">
                <a:avLst/>
              </a:prstGeom>
              <a:solidFill>
                <a:srgbClr val="000000"/>
              </a:solidFill>
              <a:ln w="19050" cap="flat">
                <a:solidFill>
                  <a:srgbClr val="092937"/>
                </a:solidFill>
                <a:prstDash val="solid"/>
                <a:miter lim="800000"/>
              </a:ln>
              <a:effectLst/>
            </p:spPr>
            <p:txBody>
              <a:bodyPr wrap="square" lIns="45719" tIns="45719" rIns="45719" bIns="45719" numCol="1" anchor="ctr">
                <a:noAutofit/>
              </a:bodyPr>
              <a:lstStyle/>
              <a:p>
                <a:pPr algn="ctr">
                  <a:defRPr>
                    <a:solidFill>
                      <a:srgbClr val="FFFFFF"/>
                    </a:solidFill>
                  </a:defRPr>
                </a:pPr>
              </a:p>
            </p:txBody>
          </p:sp>
          <p:sp>
            <p:nvSpPr>
              <p:cNvPr id="181" name="Oval 32"/>
              <p:cNvSpPr/>
              <p:nvPr/>
            </p:nvSpPr>
            <p:spPr>
              <a:xfrm>
                <a:off x="193612" y="-1"/>
                <a:ext cx="53399" cy="51144"/>
              </a:xfrm>
              <a:prstGeom prst="ellipse">
                <a:avLst/>
              </a:prstGeom>
              <a:solidFill>
                <a:srgbClr val="000000"/>
              </a:solidFill>
              <a:ln w="19050" cap="flat">
                <a:solidFill>
                  <a:srgbClr val="092937"/>
                </a:solidFill>
                <a:prstDash val="solid"/>
                <a:miter lim="800000"/>
              </a:ln>
              <a:effectLst/>
            </p:spPr>
            <p:txBody>
              <a:bodyPr wrap="square" lIns="45719" tIns="45719" rIns="45719" bIns="45719" numCol="1" anchor="ctr">
                <a:noAutofit/>
              </a:bodyPr>
              <a:lstStyle/>
              <a:p>
                <a:pPr algn="ctr">
                  <a:defRPr>
                    <a:solidFill>
                      <a:srgbClr val="FFFFFF"/>
                    </a:solidFill>
                  </a:defRPr>
                </a:pPr>
              </a:p>
            </p:txBody>
          </p:sp>
        </p:grpSp>
      </p:gr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Title 1"/>
          <p:cNvSpPr txBox="1"/>
          <p:nvPr>
            <p:ph type="title"/>
          </p:nvPr>
        </p:nvSpPr>
        <p:spPr>
          <a:xfrm>
            <a:off x="838200" y="0"/>
            <a:ext cx="10515600" cy="1059815"/>
          </a:xfrm>
          <a:prstGeom prst="rect">
            <a:avLst/>
          </a:prstGeom>
        </p:spPr>
        <p:txBody>
          <a:bodyPr/>
          <a:lstStyle/>
          <a:p>
            <a:pPr algn="ctr" defTabSz="850391">
              <a:defRPr sz="3627"/>
            </a:pPr>
            <a:r>
              <a:t>Full Image → KNN</a:t>
            </a:r>
            <a:r>
              <a:t> </a:t>
            </a:r>
            <a:r>
              <a:t>without/with data Augmentation</a:t>
            </a:r>
          </a:p>
        </p:txBody>
      </p:sp>
      <p:grpSp>
        <p:nvGrpSpPr>
          <p:cNvPr id="188" name="Content Placeholder 4"/>
          <p:cNvGrpSpPr/>
          <p:nvPr/>
        </p:nvGrpSpPr>
        <p:grpSpPr>
          <a:xfrm>
            <a:off x="7275404" y="1400286"/>
            <a:ext cx="3558849" cy="1082135"/>
            <a:chOff x="0" y="0"/>
            <a:chExt cx="3558847" cy="1082134"/>
          </a:xfrm>
        </p:grpSpPr>
        <p:sp>
          <p:nvSpPr>
            <p:cNvPr id="186" name="Rectangle"/>
            <p:cNvSpPr/>
            <p:nvPr/>
          </p:nvSpPr>
          <p:spPr>
            <a:xfrm>
              <a:off x="0" y="0"/>
              <a:ext cx="3558848" cy="1082135"/>
            </a:xfrm>
            <a:prstGeom prst="rect">
              <a:avLst/>
            </a:prstGeom>
            <a:solidFill>
              <a:srgbClr val="000000"/>
            </a:solidFill>
            <a:ln w="12700" cap="flat">
              <a:noFill/>
              <a:miter lim="400000"/>
            </a:ln>
            <a:effectLst/>
          </p:spPr>
          <p:txBody>
            <a:bodyPr wrap="square" lIns="45719" tIns="45719" rIns="45719" bIns="45719" numCol="1" anchor="ctr">
              <a:noAutofit/>
            </a:bodyPr>
            <a:lstStyle/>
            <a:p>
              <a:pPr/>
            </a:p>
          </p:txBody>
        </p:sp>
        <p:pic>
          <p:nvPicPr>
            <p:cNvPr id="187" name="image19.png" descr="image19.png"/>
            <p:cNvPicPr>
              <a:picLocks noChangeAspect="1"/>
            </p:cNvPicPr>
            <p:nvPr/>
          </p:nvPicPr>
          <p:blipFill>
            <a:blip r:embed="rId2">
              <a:extLst/>
            </a:blip>
            <a:stretch>
              <a:fillRect/>
            </a:stretch>
          </p:blipFill>
          <p:spPr>
            <a:xfrm>
              <a:off x="0" y="0"/>
              <a:ext cx="3558848" cy="1082135"/>
            </a:xfrm>
            <a:prstGeom prst="rect">
              <a:avLst/>
            </a:prstGeom>
            <a:ln w="9525" cap="flat">
              <a:solidFill>
                <a:srgbClr val="000000"/>
              </a:solidFill>
              <a:prstDash val="solid"/>
              <a:round/>
            </a:ln>
            <a:effectLst/>
          </p:spPr>
        </p:pic>
      </p:grpSp>
      <p:pic>
        <p:nvPicPr>
          <p:cNvPr id="189" name="Picture 6" descr="Picture 6"/>
          <p:cNvPicPr>
            <a:picLocks noChangeAspect="1"/>
          </p:cNvPicPr>
          <p:nvPr/>
        </p:nvPicPr>
        <p:blipFill>
          <a:blip r:embed="rId3">
            <a:extLst/>
          </a:blip>
          <a:stretch>
            <a:fillRect/>
          </a:stretch>
        </p:blipFill>
        <p:spPr>
          <a:xfrm>
            <a:off x="6922072" y="2579220"/>
            <a:ext cx="4265513" cy="4278780"/>
          </a:xfrm>
          <a:prstGeom prst="rect">
            <a:avLst/>
          </a:prstGeom>
          <a:ln w="12700">
            <a:miter lim="400000"/>
          </a:ln>
        </p:spPr>
      </p:pic>
      <p:pic>
        <p:nvPicPr>
          <p:cNvPr id="190" name="Picture 10" descr="Picture 10"/>
          <p:cNvPicPr>
            <a:picLocks noChangeAspect="1"/>
          </p:cNvPicPr>
          <p:nvPr/>
        </p:nvPicPr>
        <p:blipFill>
          <a:blip r:embed="rId4">
            <a:extLst/>
          </a:blip>
          <a:stretch>
            <a:fillRect/>
          </a:stretch>
        </p:blipFill>
        <p:spPr>
          <a:xfrm>
            <a:off x="1252496" y="1400286"/>
            <a:ext cx="3436920" cy="1051652"/>
          </a:xfrm>
          <a:prstGeom prst="rect">
            <a:avLst/>
          </a:prstGeom>
          <a:ln>
            <a:solidFill>
              <a:srgbClr val="000000"/>
            </a:solidFill>
          </a:ln>
        </p:spPr>
      </p:pic>
      <p:pic>
        <p:nvPicPr>
          <p:cNvPr id="191" name="Picture 12" descr="Picture 12"/>
          <p:cNvPicPr>
            <a:picLocks noChangeAspect="1"/>
          </p:cNvPicPr>
          <p:nvPr/>
        </p:nvPicPr>
        <p:blipFill>
          <a:blip r:embed="rId5">
            <a:extLst/>
          </a:blip>
          <a:stretch>
            <a:fillRect/>
          </a:stretch>
        </p:blipFill>
        <p:spPr>
          <a:xfrm>
            <a:off x="644468" y="2579220"/>
            <a:ext cx="4265514" cy="4265513"/>
          </a:xfrm>
          <a:prstGeom prst="rect">
            <a:avLst/>
          </a:prstGeom>
          <a:ln w="12700">
            <a:miter lim="400000"/>
          </a:ln>
        </p:spPr>
      </p:pic>
      <p:sp>
        <p:nvSpPr>
          <p:cNvPr id="192" name="TextBox 13"/>
          <p:cNvSpPr txBox="1"/>
          <p:nvPr/>
        </p:nvSpPr>
        <p:spPr>
          <a:xfrm>
            <a:off x="883919" y="967312"/>
            <a:ext cx="4246400"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Without (Note the test dataset size of 30)</a:t>
            </a:r>
          </a:p>
        </p:txBody>
      </p:sp>
      <p:sp>
        <p:nvSpPr>
          <p:cNvPr id="193" name="TextBox 15"/>
          <p:cNvSpPr txBox="1"/>
          <p:nvPr/>
        </p:nvSpPr>
        <p:spPr>
          <a:xfrm>
            <a:off x="6967792" y="967312"/>
            <a:ext cx="6004561"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With (Note the test dataset size of 240)</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Title 1"/>
          <p:cNvSpPr txBox="1"/>
          <p:nvPr>
            <p:ph type="title"/>
          </p:nvPr>
        </p:nvSpPr>
        <p:spPr>
          <a:xfrm>
            <a:off x="838200" y="365125"/>
            <a:ext cx="10515600" cy="1325563"/>
          </a:xfrm>
          <a:prstGeom prst="rect">
            <a:avLst/>
          </a:prstGeom>
        </p:spPr>
        <p:txBody>
          <a:bodyPr/>
          <a:lstStyle>
            <a:lvl1pPr algn="ctr"/>
          </a:lstStyle>
          <a:p>
            <a:pPr/>
            <a:r>
              <a:t>Full Image → SVM – Default Parameters</a:t>
            </a:r>
          </a:p>
        </p:txBody>
      </p:sp>
      <p:pic>
        <p:nvPicPr>
          <p:cNvPr id="196" name="Content Placeholder 4" descr="Content Placeholder 4"/>
          <p:cNvPicPr>
            <a:picLocks noChangeAspect="1"/>
          </p:cNvPicPr>
          <p:nvPr/>
        </p:nvPicPr>
        <p:blipFill>
          <a:blip r:embed="rId2">
            <a:extLst/>
          </a:blip>
          <a:stretch>
            <a:fillRect/>
          </a:stretch>
        </p:blipFill>
        <p:spPr>
          <a:xfrm>
            <a:off x="688583" y="2022270"/>
            <a:ext cx="4364872" cy="4351339"/>
          </a:xfrm>
          <a:prstGeom prst="rect">
            <a:avLst/>
          </a:prstGeom>
          <a:ln>
            <a:solidFill>
              <a:srgbClr val="000000"/>
            </a:solidFill>
          </a:ln>
        </p:spPr>
      </p:pic>
      <p:pic>
        <p:nvPicPr>
          <p:cNvPr id="197" name="Picture 6" descr="Picture 6"/>
          <p:cNvPicPr>
            <a:picLocks noChangeAspect="1"/>
          </p:cNvPicPr>
          <p:nvPr/>
        </p:nvPicPr>
        <p:blipFill>
          <a:blip r:embed="rId3">
            <a:extLst/>
          </a:blip>
          <a:stretch>
            <a:fillRect/>
          </a:stretch>
        </p:blipFill>
        <p:spPr>
          <a:xfrm>
            <a:off x="5702556" y="3715492"/>
            <a:ext cx="3231804" cy="1416947"/>
          </a:xfrm>
          <a:prstGeom prst="rect">
            <a:avLst/>
          </a:prstGeom>
          <a:ln>
            <a:solidFill>
              <a:srgbClr val="000000"/>
            </a:solidFill>
          </a:ln>
        </p:spPr>
      </p:pic>
      <p:pic>
        <p:nvPicPr>
          <p:cNvPr id="198" name="Picture 8" descr="Picture 8"/>
          <p:cNvPicPr>
            <a:picLocks noChangeAspect="1"/>
          </p:cNvPicPr>
          <p:nvPr/>
        </p:nvPicPr>
        <p:blipFill>
          <a:blip r:embed="rId4">
            <a:extLst/>
          </a:blip>
          <a:stretch>
            <a:fillRect/>
          </a:stretch>
        </p:blipFill>
        <p:spPr>
          <a:xfrm>
            <a:off x="5702558" y="2022270"/>
            <a:ext cx="3276885" cy="1120238"/>
          </a:xfrm>
          <a:prstGeom prst="rect">
            <a:avLst/>
          </a:prstGeom>
          <a:ln>
            <a:solidFill>
              <a:srgbClr val="000000"/>
            </a:solidFill>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Title 1"/>
          <p:cNvSpPr txBox="1"/>
          <p:nvPr>
            <p:ph type="title"/>
          </p:nvPr>
        </p:nvSpPr>
        <p:spPr>
          <a:xfrm>
            <a:off x="838200" y="365125"/>
            <a:ext cx="10515600" cy="1325563"/>
          </a:xfrm>
          <a:prstGeom prst="rect">
            <a:avLst/>
          </a:prstGeom>
        </p:spPr>
        <p:txBody>
          <a:bodyPr/>
          <a:lstStyle>
            <a:lvl1pPr algn="ctr"/>
          </a:lstStyle>
          <a:p>
            <a:pPr/>
            <a:r>
              <a:t>Full Image → SVM – Parameter Tuning</a:t>
            </a:r>
          </a:p>
        </p:txBody>
      </p:sp>
      <p:pic>
        <p:nvPicPr>
          <p:cNvPr id="201" name="Content Placeholder 4" descr="Content Placeholder 4"/>
          <p:cNvPicPr>
            <a:picLocks noChangeAspect="1"/>
          </p:cNvPicPr>
          <p:nvPr/>
        </p:nvPicPr>
        <p:blipFill>
          <a:blip r:embed="rId2">
            <a:extLst/>
          </a:blip>
          <a:stretch>
            <a:fillRect/>
          </a:stretch>
        </p:blipFill>
        <p:spPr>
          <a:xfrm>
            <a:off x="7159566" y="5171768"/>
            <a:ext cx="2820237" cy="1321107"/>
          </a:xfrm>
          <a:prstGeom prst="rect">
            <a:avLst/>
          </a:prstGeom>
          <a:ln>
            <a:solidFill>
              <a:srgbClr val="000000"/>
            </a:solidFill>
          </a:ln>
        </p:spPr>
      </p:pic>
      <p:pic>
        <p:nvPicPr>
          <p:cNvPr id="202" name="Picture 10" descr="Picture 10"/>
          <p:cNvPicPr>
            <a:picLocks noChangeAspect="1"/>
          </p:cNvPicPr>
          <p:nvPr/>
        </p:nvPicPr>
        <p:blipFill>
          <a:blip r:embed="rId3">
            <a:extLst/>
          </a:blip>
          <a:stretch>
            <a:fillRect/>
          </a:stretch>
        </p:blipFill>
        <p:spPr>
          <a:xfrm>
            <a:off x="94567" y="1827341"/>
            <a:ext cx="4930568" cy="4930568"/>
          </a:xfrm>
          <a:prstGeom prst="rect">
            <a:avLst/>
          </a:prstGeom>
          <a:ln>
            <a:solidFill>
              <a:srgbClr val="000000"/>
            </a:solidFill>
          </a:ln>
        </p:spPr>
      </p:pic>
      <p:pic>
        <p:nvPicPr>
          <p:cNvPr id="203" name="Picture 9" descr="Picture 9"/>
          <p:cNvPicPr>
            <a:picLocks noChangeAspect="1"/>
          </p:cNvPicPr>
          <p:nvPr/>
        </p:nvPicPr>
        <p:blipFill>
          <a:blip r:embed="rId4">
            <a:extLst/>
          </a:blip>
          <a:stretch>
            <a:fillRect/>
          </a:stretch>
        </p:blipFill>
        <p:spPr>
          <a:xfrm>
            <a:off x="5162748" y="4001870"/>
            <a:ext cx="3246402" cy="1028790"/>
          </a:xfrm>
          <a:prstGeom prst="rect">
            <a:avLst/>
          </a:prstGeom>
          <a:ln>
            <a:solidFill>
              <a:srgbClr val="000000"/>
            </a:solidFill>
          </a:ln>
        </p:spPr>
      </p:pic>
      <p:pic>
        <p:nvPicPr>
          <p:cNvPr id="204" name="Picture 11" descr="Picture 11"/>
          <p:cNvPicPr>
            <a:picLocks noChangeAspect="1"/>
          </p:cNvPicPr>
          <p:nvPr/>
        </p:nvPicPr>
        <p:blipFill>
          <a:blip r:embed="rId5">
            <a:extLst/>
          </a:blip>
          <a:stretch>
            <a:fillRect/>
          </a:stretch>
        </p:blipFill>
        <p:spPr>
          <a:xfrm>
            <a:off x="8546764" y="4001870"/>
            <a:ext cx="3254023" cy="1074514"/>
          </a:xfrm>
          <a:prstGeom prst="rect">
            <a:avLst/>
          </a:prstGeom>
          <a:ln>
            <a:solidFill>
              <a:srgbClr val="000000"/>
            </a:solidFill>
          </a:ln>
        </p:spPr>
      </p:pic>
      <p:sp>
        <p:nvSpPr>
          <p:cNvPr id="205" name="Content Placeholder 2"/>
          <p:cNvSpPr txBox="1"/>
          <p:nvPr/>
        </p:nvSpPr>
        <p:spPr>
          <a:xfrm>
            <a:off x="5208468" y="1769805"/>
            <a:ext cx="6546597" cy="2015614"/>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226313" indent="-226313" defTabSz="905255">
              <a:lnSpc>
                <a:spcPct val="90000"/>
              </a:lnSpc>
              <a:spcBef>
                <a:spcPts val="900"/>
              </a:spcBef>
              <a:buSzPct val="100000"/>
              <a:buFont typeface="Arial"/>
              <a:buChar char="•"/>
              <a:defRPr sz="2772"/>
            </a:pPr>
            <a:r>
              <a:t>We attempted some parameter tuning, but the model's results remained inaccurate. From the result window, we can see that it classified every single image from the test dataset as a </a:t>
            </a:r>
            <a:r>
              <a:rPr b="1"/>
              <a:t>face</a:t>
            </a:r>
            <a:r>
              <a:t>.</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Title 1"/>
          <p:cNvSpPr txBox="1"/>
          <p:nvPr>
            <p:ph type="title"/>
          </p:nvPr>
        </p:nvSpPr>
        <p:spPr>
          <a:xfrm>
            <a:off x="975851" y="18255"/>
            <a:ext cx="10515601" cy="1325563"/>
          </a:xfrm>
          <a:prstGeom prst="rect">
            <a:avLst/>
          </a:prstGeom>
        </p:spPr>
        <p:txBody>
          <a:bodyPr/>
          <a:lstStyle>
            <a:lvl1pPr algn="ctr"/>
          </a:lstStyle>
          <a:p>
            <a:pPr/>
            <a:r>
              <a:t>Full Image → Standalone Decision Tree </a:t>
            </a:r>
          </a:p>
        </p:txBody>
      </p:sp>
      <p:sp>
        <p:nvSpPr>
          <p:cNvPr id="208" name="Content Placeholder 2"/>
          <p:cNvSpPr txBox="1"/>
          <p:nvPr>
            <p:ph type="body" sz="quarter" idx="1"/>
          </p:nvPr>
        </p:nvSpPr>
        <p:spPr>
          <a:xfrm>
            <a:off x="540561" y="5127519"/>
            <a:ext cx="5936228" cy="1632157"/>
          </a:xfrm>
          <a:prstGeom prst="rect">
            <a:avLst/>
          </a:prstGeom>
        </p:spPr>
        <p:txBody>
          <a:bodyPr/>
          <a:lstStyle/>
          <a:p>
            <a:pPr marL="217170" indent="-217170" defTabSz="868680">
              <a:lnSpc>
                <a:spcPct val="72000"/>
              </a:lnSpc>
              <a:spcBef>
                <a:spcPts val="900"/>
              </a:spcBef>
              <a:defRPr sz="2375"/>
            </a:pPr>
            <a:r>
              <a:t>Whilst it had reasonable accuracy on the test dataset. In practice during the detector, it did not capture faces very well. </a:t>
            </a:r>
          </a:p>
          <a:p>
            <a:pPr marL="217170" indent="-217170" defTabSz="868680">
              <a:lnSpc>
                <a:spcPct val="72000"/>
              </a:lnSpc>
              <a:spcBef>
                <a:spcPts val="900"/>
              </a:spcBef>
              <a:defRPr sz="2375"/>
            </a:pPr>
            <a:r>
              <a:t>Notable: hist eq’d image seemed to do a bit better</a:t>
            </a:r>
          </a:p>
        </p:txBody>
      </p:sp>
      <p:pic>
        <p:nvPicPr>
          <p:cNvPr id="209" name="Picture 6" descr="Picture 6"/>
          <p:cNvPicPr>
            <a:picLocks noChangeAspect="1"/>
          </p:cNvPicPr>
          <p:nvPr/>
        </p:nvPicPr>
        <p:blipFill>
          <a:blip r:embed="rId2">
            <a:extLst/>
          </a:blip>
          <a:stretch>
            <a:fillRect/>
          </a:stretch>
        </p:blipFill>
        <p:spPr>
          <a:xfrm>
            <a:off x="8457618" y="5132437"/>
            <a:ext cx="3213485" cy="1325563"/>
          </a:xfrm>
          <a:prstGeom prst="rect">
            <a:avLst/>
          </a:prstGeom>
          <a:ln>
            <a:solidFill>
              <a:srgbClr val="000000"/>
            </a:solidFill>
          </a:ln>
        </p:spPr>
      </p:pic>
      <p:pic>
        <p:nvPicPr>
          <p:cNvPr id="210" name="Picture 14" descr="Picture 14"/>
          <p:cNvPicPr>
            <a:picLocks noChangeAspect="1"/>
          </p:cNvPicPr>
          <p:nvPr/>
        </p:nvPicPr>
        <p:blipFill>
          <a:blip r:embed="rId3">
            <a:extLst/>
          </a:blip>
          <a:stretch>
            <a:fillRect/>
          </a:stretch>
        </p:blipFill>
        <p:spPr>
          <a:xfrm>
            <a:off x="1404659" y="1070273"/>
            <a:ext cx="9125902" cy="3962483"/>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Title 1"/>
          <p:cNvSpPr txBox="1"/>
          <p:nvPr>
            <p:ph type="title"/>
          </p:nvPr>
        </p:nvSpPr>
        <p:spPr>
          <a:xfrm>
            <a:off x="975851" y="104988"/>
            <a:ext cx="10515601" cy="1325563"/>
          </a:xfrm>
          <a:prstGeom prst="rect">
            <a:avLst/>
          </a:prstGeom>
        </p:spPr>
        <p:txBody>
          <a:bodyPr/>
          <a:lstStyle/>
          <a:p>
            <a:pPr/>
            <a:r>
              <a:t>Full Image → Random Forest</a:t>
            </a:r>
          </a:p>
        </p:txBody>
      </p:sp>
      <p:pic>
        <p:nvPicPr>
          <p:cNvPr id="213" name="Content Placeholder 8" descr="Content Placeholder 8"/>
          <p:cNvPicPr>
            <a:picLocks noChangeAspect="1"/>
          </p:cNvPicPr>
          <p:nvPr/>
        </p:nvPicPr>
        <p:blipFill>
          <a:blip r:embed="rId2">
            <a:extLst/>
          </a:blip>
          <a:stretch>
            <a:fillRect/>
          </a:stretch>
        </p:blipFill>
        <p:spPr>
          <a:xfrm>
            <a:off x="8194726" y="1985402"/>
            <a:ext cx="2453854" cy="1082135"/>
          </a:xfrm>
          <a:prstGeom prst="rect">
            <a:avLst/>
          </a:prstGeom>
          <a:ln>
            <a:solidFill>
              <a:srgbClr val="000000"/>
            </a:solidFill>
          </a:ln>
        </p:spPr>
      </p:pic>
      <p:pic>
        <p:nvPicPr>
          <p:cNvPr id="214" name="Picture 10" descr="Picture 10"/>
          <p:cNvPicPr>
            <a:picLocks noChangeAspect="1"/>
          </p:cNvPicPr>
          <p:nvPr/>
        </p:nvPicPr>
        <p:blipFill>
          <a:blip r:embed="rId3">
            <a:extLst/>
          </a:blip>
          <a:stretch>
            <a:fillRect/>
          </a:stretch>
        </p:blipFill>
        <p:spPr>
          <a:xfrm>
            <a:off x="7942898" y="3242182"/>
            <a:ext cx="3094672" cy="3061242"/>
          </a:xfrm>
          <a:prstGeom prst="rect">
            <a:avLst/>
          </a:prstGeom>
          <a:ln>
            <a:solidFill>
              <a:srgbClr val="000000"/>
            </a:solidFill>
          </a:ln>
        </p:spPr>
      </p:pic>
      <p:pic>
        <p:nvPicPr>
          <p:cNvPr id="215" name="Picture 12" descr="Picture 12"/>
          <p:cNvPicPr>
            <a:picLocks noChangeAspect="1"/>
          </p:cNvPicPr>
          <p:nvPr/>
        </p:nvPicPr>
        <p:blipFill>
          <a:blip r:embed="rId4">
            <a:extLst/>
          </a:blip>
          <a:stretch>
            <a:fillRect/>
          </a:stretch>
        </p:blipFill>
        <p:spPr>
          <a:xfrm>
            <a:off x="4342050" y="1985402"/>
            <a:ext cx="2385268" cy="1082135"/>
          </a:xfrm>
          <a:prstGeom prst="rect">
            <a:avLst/>
          </a:prstGeom>
          <a:ln>
            <a:solidFill>
              <a:srgbClr val="000000"/>
            </a:solidFill>
          </a:ln>
        </p:spPr>
      </p:pic>
      <p:pic>
        <p:nvPicPr>
          <p:cNvPr id="216" name="Picture 14" descr="Picture 14"/>
          <p:cNvPicPr>
            <a:picLocks noChangeAspect="1"/>
          </p:cNvPicPr>
          <p:nvPr/>
        </p:nvPicPr>
        <p:blipFill>
          <a:blip r:embed="rId5">
            <a:extLst/>
          </a:blip>
          <a:stretch>
            <a:fillRect/>
          </a:stretch>
        </p:blipFill>
        <p:spPr>
          <a:xfrm>
            <a:off x="4065023" y="3242182"/>
            <a:ext cx="3061243" cy="3061243"/>
          </a:xfrm>
          <a:prstGeom prst="rect">
            <a:avLst/>
          </a:prstGeom>
          <a:ln>
            <a:solidFill>
              <a:srgbClr val="000000"/>
            </a:solidFill>
          </a:ln>
        </p:spPr>
      </p:pic>
      <p:pic>
        <p:nvPicPr>
          <p:cNvPr id="217" name="Picture 16" descr="Picture 16"/>
          <p:cNvPicPr>
            <a:picLocks noChangeAspect="1"/>
          </p:cNvPicPr>
          <p:nvPr/>
        </p:nvPicPr>
        <p:blipFill>
          <a:blip r:embed="rId6">
            <a:extLst/>
          </a:blip>
          <a:stretch>
            <a:fillRect/>
          </a:stretch>
        </p:blipFill>
        <p:spPr>
          <a:xfrm>
            <a:off x="455104" y="1985402"/>
            <a:ext cx="2530059" cy="1051652"/>
          </a:xfrm>
          <a:prstGeom prst="rect">
            <a:avLst/>
          </a:prstGeom>
          <a:ln>
            <a:solidFill>
              <a:srgbClr val="000000"/>
            </a:solidFill>
          </a:ln>
        </p:spPr>
      </p:pic>
      <p:pic>
        <p:nvPicPr>
          <p:cNvPr id="218" name="Picture 18" descr="Picture 18"/>
          <p:cNvPicPr>
            <a:picLocks noChangeAspect="1"/>
          </p:cNvPicPr>
          <p:nvPr/>
        </p:nvPicPr>
        <p:blipFill>
          <a:blip r:embed="rId7">
            <a:extLst/>
          </a:blip>
          <a:stretch>
            <a:fillRect/>
          </a:stretch>
        </p:blipFill>
        <p:spPr>
          <a:xfrm>
            <a:off x="191878" y="3242184"/>
            <a:ext cx="3056511" cy="3061242"/>
          </a:xfrm>
          <a:prstGeom prst="rect">
            <a:avLst/>
          </a:prstGeom>
          <a:ln>
            <a:solidFill>
              <a:srgbClr val="000000"/>
            </a:solidFill>
          </a:ln>
        </p:spPr>
      </p:pic>
      <p:sp>
        <p:nvSpPr>
          <p:cNvPr id="219" name="TextBox 19"/>
          <p:cNvSpPr txBox="1"/>
          <p:nvPr/>
        </p:nvSpPr>
        <p:spPr>
          <a:xfrm>
            <a:off x="798113" y="1595103"/>
            <a:ext cx="1844039"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10 Trees</a:t>
            </a:r>
          </a:p>
        </p:txBody>
      </p:sp>
      <p:sp>
        <p:nvSpPr>
          <p:cNvPr id="220" name="TextBox 20"/>
          <p:cNvSpPr txBox="1"/>
          <p:nvPr/>
        </p:nvSpPr>
        <p:spPr>
          <a:xfrm>
            <a:off x="4553570" y="1595792"/>
            <a:ext cx="1844040"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100 Trees</a:t>
            </a:r>
          </a:p>
        </p:txBody>
      </p:sp>
      <p:sp>
        <p:nvSpPr>
          <p:cNvPr id="221" name="TextBox 21"/>
          <p:cNvSpPr txBox="1"/>
          <p:nvPr/>
        </p:nvSpPr>
        <p:spPr>
          <a:xfrm>
            <a:off x="8568213" y="1608449"/>
            <a:ext cx="1844040"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200 Trees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Title 1"/>
          <p:cNvSpPr txBox="1"/>
          <p:nvPr>
            <p:ph type="title"/>
          </p:nvPr>
        </p:nvSpPr>
        <p:spPr>
          <a:xfrm>
            <a:off x="658408" y="125854"/>
            <a:ext cx="11089642" cy="951107"/>
          </a:xfrm>
          <a:prstGeom prst="rect">
            <a:avLst/>
          </a:prstGeom>
        </p:spPr>
        <p:txBody>
          <a:bodyPr/>
          <a:lstStyle>
            <a:lvl1pPr defTabSz="822959">
              <a:defRPr sz="3959"/>
            </a:lvl1pPr>
          </a:lstStyle>
          <a:p>
            <a:pPr/>
            <a:r>
              <a:t>Full Image → Random Forest, Metrics evaluation</a:t>
            </a:r>
          </a:p>
        </p:txBody>
      </p:sp>
      <p:grpSp>
        <p:nvGrpSpPr>
          <p:cNvPr id="226" name="Group 10"/>
          <p:cNvGrpSpPr/>
          <p:nvPr/>
        </p:nvGrpSpPr>
        <p:grpSpPr>
          <a:xfrm>
            <a:off x="816261" y="1004724"/>
            <a:ext cx="4825266" cy="2597389"/>
            <a:chOff x="0" y="0"/>
            <a:chExt cx="4825265" cy="2597388"/>
          </a:xfrm>
        </p:grpSpPr>
        <p:pic>
          <p:nvPicPr>
            <p:cNvPr id="224" name="Picture 6" descr="Picture 6"/>
            <p:cNvPicPr>
              <a:picLocks noChangeAspect="1"/>
            </p:cNvPicPr>
            <p:nvPr/>
          </p:nvPicPr>
          <p:blipFill>
            <a:blip r:embed="rId2">
              <a:extLst/>
            </a:blip>
            <a:stretch>
              <a:fillRect/>
            </a:stretch>
          </p:blipFill>
          <p:spPr>
            <a:xfrm>
              <a:off x="0" y="498781"/>
              <a:ext cx="4825266" cy="2098607"/>
            </a:xfrm>
            <a:prstGeom prst="rect">
              <a:avLst/>
            </a:prstGeom>
            <a:ln w="9525" cap="flat">
              <a:solidFill>
                <a:srgbClr val="000000"/>
              </a:solidFill>
              <a:prstDash val="solid"/>
              <a:round/>
            </a:ln>
            <a:effectLst/>
          </p:spPr>
        </p:pic>
        <p:sp>
          <p:nvSpPr>
            <p:cNvPr id="225" name="TextBox 7"/>
            <p:cNvSpPr txBox="1"/>
            <p:nvPr/>
          </p:nvSpPr>
          <p:spPr>
            <a:xfrm>
              <a:off x="469531" y="-1"/>
              <a:ext cx="3886202"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stStyle>
            <a:p>
              <a:pPr/>
              <a:r>
                <a:t>Model 1</a:t>
              </a:r>
            </a:p>
          </p:txBody>
        </p:sp>
      </p:grpSp>
      <p:sp>
        <p:nvSpPr>
          <p:cNvPr id="227" name="TextBox 8"/>
          <p:cNvSpPr txBox="1"/>
          <p:nvPr/>
        </p:nvSpPr>
        <p:spPr>
          <a:xfrm>
            <a:off x="6963593" y="989648"/>
            <a:ext cx="3886201"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Model 2</a:t>
            </a:r>
          </a:p>
        </p:txBody>
      </p:sp>
      <p:sp>
        <p:nvSpPr>
          <p:cNvPr id="228" name="TextBox 11"/>
          <p:cNvSpPr txBox="1"/>
          <p:nvPr/>
        </p:nvSpPr>
        <p:spPr>
          <a:xfrm>
            <a:off x="675097" y="3716485"/>
            <a:ext cx="10841806" cy="2326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SzPct val="100000"/>
              <a:buFont typeface="Arial"/>
              <a:buChar char="•"/>
            </a:pPr>
            <a:r>
              <a:t>Notice how accuracy is the same at 77.5%.</a:t>
            </a:r>
          </a:p>
          <a:p>
            <a:pPr marL="285750" indent="-285750">
              <a:buSzPct val="100000"/>
              <a:buFont typeface="Arial"/>
              <a:buChar char="•"/>
            </a:pPr>
            <a:r>
              <a:t>This made us realize that other metrics are also useful to be evaluated, for example, recall and precision.</a:t>
            </a:r>
          </a:p>
          <a:p>
            <a:pPr marL="285750" indent="-285750">
              <a:buSzPct val="100000"/>
              <a:buFont typeface="Arial"/>
              <a:buChar char="•"/>
            </a:pPr>
            <a:r>
              <a:t>In model 2, a higher recall at a cost of lower precision means that model 2 would’ve captured more TP even if it gave more FP.</a:t>
            </a:r>
          </a:p>
          <a:p>
            <a:pPr marL="285750" indent="-285750">
              <a:buSzPct val="100000"/>
              <a:buFont typeface="Arial"/>
              <a:buChar char="•"/>
            </a:pPr>
            <a:r>
              <a:t>Depending on the purpose, model 2 can be more desirable. For example, if an operator wants to catch a criminal, and they do not mind manually reviewing through more (FP) photos for a chance at capturing a person that would’ve otherwise been lost in model 1.</a:t>
            </a:r>
          </a:p>
        </p:txBody>
      </p:sp>
      <p:pic>
        <p:nvPicPr>
          <p:cNvPr id="229" name="Picture 3" descr="Picture 3"/>
          <p:cNvPicPr>
            <a:picLocks noChangeAspect="1"/>
          </p:cNvPicPr>
          <p:nvPr/>
        </p:nvPicPr>
        <p:blipFill>
          <a:blip r:embed="rId3">
            <a:extLst/>
          </a:blip>
          <a:stretch>
            <a:fillRect/>
          </a:stretch>
        </p:blipFill>
        <p:spPr>
          <a:xfrm>
            <a:off x="6494060" y="1468250"/>
            <a:ext cx="4825267" cy="2118786"/>
          </a:xfrm>
          <a:prstGeom prst="rect">
            <a:avLst/>
          </a:prstGeom>
          <a:ln>
            <a:solidFill>
              <a:srgbClr val="000000"/>
            </a:solidFill>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Title 1"/>
          <p:cNvSpPr txBox="1"/>
          <p:nvPr>
            <p:ph type="title"/>
          </p:nvPr>
        </p:nvSpPr>
        <p:spPr>
          <a:xfrm>
            <a:off x="838200" y="365125"/>
            <a:ext cx="10515600" cy="1325563"/>
          </a:xfrm>
          <a:prstGeom prst="rect">
            <a:avLst/>
          </a:prstGeom>
        </p:spPr>
        <p:txBody>
          <a:bodyPr/>
          <a:lstStyle>
            <a:lvl1pPr algn="ctr"/>
          </a:lstStyle>
          <a:p>
            <a:pPr/>
            <a:r>
              <a:t>Full Image → AdaBoost</a:t>
            </a:r>
          </a:p>
        </p:txBody>
      </p:sp>
      <p:pic>
        <p:nvPicPr>
          <p:cNvPr id="232" name="Content Placeholder 4" descr="Content Placeholder 4"/>
          <p:cNvPicPr>
            <a:picLocks noChangeAspect="1"/>
          </p:cNvPicPr>
          <p:nvPr/>
        </p:nvPicPr>
        <p:blipFill>
          <a:blip r:embed="rId2">
            <a:extLst/>
          </a:blip>
          <a:stretch>
            <a:fillRect/>
          </a:stretch>
        </p:blipFill>
        <p:spPr>
          <a:xfrm>
            <a:off x="713082" y="3607751"/>
            <a:ext cx="2867259" cy="2885124"/>
          </a:xfrm>
          <a:prstGeom prst="rect">
            <a:avLst/>
          </a:prstGeom>
          <a:ln w="12700">
            <a:miter lim="400000"/>
          </a:ln>
        </p:spPr>
      </p:pic>
      <p:pic>
        <p:nvPicPr>
          <p:cNvPr id="233" name="Picture 6" descr="Picture 6"/>
          <p:cNvPicPr>
            <a:picLocks noChangeAspect="1"/>
          </p:cNvPicPr>
          <p:nvPr/>
        </p:nvPicPr>
        <p:blipFill>
          <a:blip r:embed="rId3">
            <a:extLst/>
          </a:blip>
          <a:stretch>
            <a:fillRect/>
          </a:stretch>
        </p:blipFill>
        <p:spPr>
          <a:xfrm>
            <a:off x="942647" y="2354486"/>
            <a:ext cx="2408129" cy="1074514"/>
          </a:xfrm>
          <a:prstGeom prst="rect">
            <a:avLst/>
          </a:prstGeom>
          <a:ln>
            <a:solidFill>
              <a:srgbClr val="000000"/>
            </a:solidFill>
          </a:ln>
        </p:spPr>
      </p:pic>
      <p:pic>
        <p:nvPicPr>
          <p:cNvPr id="234" name="Picture 8" descr="Picture 8"/>
          <p:cNvPicPr>
            <a:picLocks noChangeAspect="1"/>
          </p:cNvPicPr>
          <p:nvPr/>
        </p:nvPicPr>
        <p:blipFill>
          <a:blip r:embed="rId4">
            <a:extLst/>
          </a:blip>
          <a:stretch>
            <a:fillRect/>
          </a:stretch>
        </p:blipFill>
        <p:spPr>
          <a:xfrm>
            <a:off x="4679844" y="2354486"/>
            <a:ext cx="2446233" cy="1074514"/>
          </a:xfrm>
          <a:prstGeom prst="rect">
            <a:avLst/>
          </a:prstGeom>
          <a:ln>
            <a:solidFill>
              <a:srgbClr val="000000"/>
            </a:solidFill>
          </a:ln>
        </p:spPr>
      </p:pic>
      <p:pic>
        <p:nvPicPr>
          <p:cNvPr id="235" name="Picture 10" descr="Picture 10"/>
          <p:cNvPicPr>
            <a:picLocks noChangeAspect="1"/>
          </p:cNvPicPr>
          <p:nvPr/>
        </p:nvPicPr>
        <p:blipFill>
          <a:blip r:embed="rId5">
            <a:extLst/>
          </a:blip>
          <a:stretch>
            <a:fillRect/>
          </a:stretch>
        </p:blipFill>
        <p:spPr>
          <a:xfrm>
            <a:off x="4380736" y="3596323"/>
            <a:ext cx="2867260" cy="2853945"/>
          </a:xfrm>
          <a:prstGeom prst="rect">
            <a:avLst/>
          </a:prstGeom>
          <a:ln w="12700">
            <a:miter lim="400000"/>
          </a:ln>
        </p:spPr>
      </p:pic>
      <p:pic>
        <p:nvPicPr>
          <p:cNvPr id="236" name="Picture 12" descr="Picture 12"/>
          <p:cNvPicPr>
            <a:picLocks noChangeAspect="1"/>
          </p:cNvPicPr>
          <p:nvPr/>
        </p:nvPicPr>
        <p:blipFill>
          <a:blip r:embed="rId6">
            <a:extLst/>
          </a:blip>
          <a:stretch>
            <a:fillRect/>
          </a:stretch>
        </p:blipFill>
        <p:spPr>
          <a:xfrm>
            <a:off x="8455144" y="2354486"/>
            <a:ext cx="2453854" cy="1051652"/>
          </a:xfrm>
          <a:prstGeom prst="rect">
            <a:avLst/>
          </a:prstGeom>
          <a:ln>
            <a:solidFill>
              <a:srgbClr val="000000"/>
            </a:solidFill>
          </a:ln>
        </p:spPr>
      </p:pic>
      <p:pic>
        <p:nvPicPr>
          <p:cNvPr id="237" name="Picture 14" descr="Picture 14"/>
          <p:cNvPicPr>
            <a:picLocks noChangeAspect="1"/>
          </p:cNvPicPr>
          <p:nvPr/>
        </p:nvPicPr>
        <p:blipFill>
          <a:blip r:embed="rId7">
            <a:extLst/>
          </a:blip>
          <a:stretch>
            <a:fillRect/>
          </a:stretch>
        </p:blipFill>
        <p:spPr>
          <a:xfrm>
            <a:off x="8268719" y="3607751"/>
            <a:ext cx="2846981" cy="2851396"/>
          </a:xfrm>
          <a:prstGeom prst="rect">
            <a:avLst/>
          </a:prstGeom>
          <a:ln w="12700">
            <a:miter lim="400000"/>
          </a:ln>
        </p:spPr>
      </p:pic>
      <p:sp>
        <p:nvSpPr>
          <p:cNvPr id="238" name="TextBox 2"/>
          <p:cNvSpPr txBox="1"/>
          <p:nvPr/>
        </p:nvSpPr>
        <p:spPr>
          <a:xfrm>
            <a:off x="8783915" y="1948544"/>
            <a:ext cx="2079363"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200 Weak learners</a:t>
            </a:r>
          </a:p>
        </p:txBody>
      </p:sp>
      <p:sp>
        <p:nvSpPr>
          <p:cNvPr id="239" name="TextBox 3"/>
          <p:cNvSpPr txBox="1"/>
          <p:nvPr/>
        </p:nvSpPr>
        <p:spPr>
          <a:xfrm>
            <a:off x="1140180" y="1904663"/>
            <a:ext cx="2578861"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10 Weak learners</a:t>
            </a:r>
          </a:p>
        </p:txBody>
      </p:sp>
      <p:sp>
        <p:nvSpPr>
          <p:cNvPr id="240" name="TextBox 5"/>
          <p:cNvSpPr txBox="1"/>
          <p:nvPr/>
        </p:nvSpPr>
        <p:spPr>
          <a:xfrm>
            <a:off x="4890599" y="1943031"/>
            <a:ext cx="2189757"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100 Weak learners</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Title 1"/>
          <p:cNvSpPr txBox="1"/>
          <p:nvPr>
            <p:ph type="title"/>
          </p:nvPr>
        </p:nvSpPr>
        <p:spPr>
          <a:xfrm>
            <a:off x="-20239" y="-64932"/>
            <a:ext cx="4431890" cy="765587"/>
          </a:xfrm>
          <a:prstGeom prst="rect">
            <a:avLst/>
          </a:prstGeom>
        </p:spPr>
        <p:txBody>
          <a:bodyPr/>
          <a:lstStyle>
            <a:lvl1pPr algn="ctr" defTabSz="850391">
              <a:defRPr sz="4092"/>
            </a:lvl1pPr>
          </a:lstStyle>
          <a:p>
            <a:pPr/>
            <a:r>
              <a:t>Full Image → MLP</a:t>
            </a:r>
          </a:p>
        </p:txBody>
      </p:sp>
      <p:pic>
        <p:nvPicPr>
          <p:cNvPr id="243" name="Picture 2" descr="Picture 2"/>
          <p:cNvPicPr>
            <a:picLocks noChangeAspect="1"/>
          </p:cNvPicPr>
          <p:nvPr/>
        </p:nvPicPr>
        <p:blipFill>
          <a:blip r:embed="rId2">
            <a:extLst/>
          </a:blip>
          <a:stretch>
            <a:fillRect/>
          </a:stretch>
        </p:blipFill>
        <p:spPr>
          <a:xfrm>
            <a:off x="111602" y="760978"/>
            <a:ext cx="2494923" cy="1480912"/>
          </a:xfrm>
          <a:prstGeom prst="rect">
            <a:avLst/>
          </a:prstGeom>
          <a:ln w="12700">
            <a:miter lim="400000"/>
          </a:ln>
        </p:spPr>
      </p:pic>
      <p:pic>
        <p:nvPicPr>
          <p:cNvPr id="244" name="Picture 4" descr="Picture 4"/>
          <p:cNvPicPr>
            <a:picLocks noChangeAspect="1"/>
          </p:cNvPicPr>
          <p:nvPr/>
        </p:nvPicPr>
        <p:blipFill>
          <a:blip r:embed="rId3">
            <a:extLst/>
          </a:blip>
          <a:stretch>
            <a:fillRect/>
          </a:stretch>
        </p:blipFill>
        <p:spPr>
          <a:xfrm>
            <a:off x="6128387" y="569126"/>
            <a:ext cx="2761906" cy="1078459"/>
          </a:xfrm>
          <a:prstGeom prst="rect">
            <a:avLst/>
          </a:prstGeom>
          <a:ln w="12700">
            <a:miter lim="400000"/>
          </a:ln>
        </p:spPr>
      </p:pic>
      <p:pic>
        <p:nvPicPr>
          <p:cNvPr id="245" name="Picture 6" descr="Picture 6"/>
          <p:cNvPicPr>
            <a:picLocks noChangeAspect="1"/>
          </p:cNvPicPr>
          <p:nvPr/>
        </p:nvPicPr>
        <p:blipFill>
          <a:blip r:embed="rId4">
            <a:extLst/>
          </a:blip>
          <a:stretch>
            <a:fillRect/>
          </a:stretch>
        </p:blipFill>
        <p:spPr>
          <a:xfrm>
            <a:off x="9350201" y="527366"/>
            <a:ext cx="2799229" cy="1069271"/>
          </a:xfrm>
          <a:prstGeom prst="rect">
            <a:avLst/>
          </a:prstGeom>
          <a:ln w="12700">
            <a:miter lim="400000"/>
          </a:ln>
        </p:spPr>
      </p:pic>
      <p:pic>
        <p:nvPicPr>
          <p:cNvPr id="246" name="Picture 8" descr="Picture 8"/>
          <p:cNvPicPr>
            <a:picLocks noChangeAspect="1"/>
          </p:cNvPicPr>
          <p:nvPr/>
        </p:nvPicPr>
        <p:blipFill>
          <a:blip r:embed="rId5">
            <a:extLst/>
          </a:blip>
          <a:stretch>
            <a:fillRect/>
          </a:stretch>
        </p:blipFill>
        <p:spPr>
          <a:xfrm>
            <a:off x="9085429" y="1605823"/>
            <a:ext cx="2500488" cy="2050209"/>
          </a:xfrm>
          <a:prstGeom prst="rect">
            <a:avLst/>
          </a:prstGeom>
          <a:ln w="12700">
            <a:miter lim="400000"/>
          </a:ln>
        </p:spPr>
      </p:pic>
      <p:pic>
        <p:nvPicPr>
          <p:cNvPr id="247" name="Picture 10" descr="Picture 10"/>
          <p:cNvPicPr>
            <a:picLocks noChangeAspect="1"/>
          </p:cNvPicPr>
          <p:nvPr/>
        </p:nvPicPr>
        <p:blipFill>
          <a:blip r:embed="rId6">
            <a:extLst/>
          </a:blip>
          <a:stretch>
            <a:fillRect/>
          </a:stretch>
        </p:blipFill>
        <p:spPr>
          <a:xfrm>
            <a:off x="9046082" y="3656031"/>
            <a:ext cx="3103347" cy="3103347"/>
          </a:xfrm>
          <a:prstGeom prst="rect">
            <a:avLst/>
          </a:prstGeom>
          <a:ln w="12700">
            <a:miter lim="400000"/>
          </a:ln>
        </p:spPr>
      </p:pic>
      <p:pic>
        <p:nvPicPr>
          <p:cNvPr id="248" name="Picture 12" descr="Picture 12"/>
          <p:cNvPicPr>
            <a:picLocks noChangeAspect="1"/>
          </p:cNvPicPr>
          <p:nvPr/>
        </p:nvPicPr>
        <p:blipFill>
          <a:blip r:embed="rId7">
            <a:extLst/>
          </a:blip>
          <a:stretch>
            <a:fillRect/>
          </a:stretch>
        </p:blipFill>
        <p:spPr>
          <a:xfrm>
            <a:off x="6027261" y="1647583"/>
            <a:ext cx="2588626" cy="2059396"/>
          </a:xfrm>
          <a:prstGeom prst="rect">
            <a:avLst/>
          </a:prstGeom>
          <a:ln w="12700">
            <a:miter lim="400000"/>
          </a:ln>
        </p:spPr>
      </p:pic>
      <p:pic>
        <p:nvPicPr>
          <p:cNvPr id="249" name="Picture 14" descr="Picture 14"/>
          <p:cNvPicPr>
            <a:picLocks noChangeAspect="1"/>
          </p:cNvPicPr>
          <p:nvPr/>
        </p:nvPicPr>
        <p:blipFill>
          <a:blip r:embed="rId8">
            <a:extLst/>
          </a:blip>
          <a:stretch>
            <a:fillRect/>
          </a:stretch>
        </p:blipFill>
        <p:spPr>
          <a:xfrm>
            <a:off x="5806611" y="3680266"/>
            <a:ext cx="3103347" cy="3079113"/>
          </a:xfrm>
          <a:prstGeom prst="rect">
            <a:avLst/>
          </a:prstGeom>
          <a:ln w="12700">
            <a:miter lim="400000"/>
          </a:ln>
        </p:spPr>
      </p:pic>
      <p:pic>
        <p:nvPicPr>
          <p:cNvPr id="250" name="Picture 16" descr="Picture 16"/>
          <p:cNvPicPr>
            <a:picLocks noChangeAspect="1"/>
          </p:cNvPicPr>
          <p:nvPr/>
        </p:nvPicPr>
        <p:blipFill>
          <a:blip r:embed="rId9">
            <a:extLst/>
          </a:blip>
          <a:stretch>
            <a:fillRect/>
          </a:stretch>
        </p:blipFill>
        <p:spPr>
          <a:xfrm>
            <a:off x="2927807" y="652448"/>
            <a:ext cx="2799229" cy="1128722"/>
          </a:xfrm>
          <a:prstGeom prst="rect">
            <a:avLst/>
          </a:prstGeom>
          <a:ln w="12700">
            <a:miter lim="400000"/>
          </a:ln>
        </p:spPr>
      </p:pic>
      <p:pic>
        <p:nvPicPr>
          <p:cNvPr id="251" name="Picture 18" descr="Picture 18"/>
          <p:cNvPicPr>
            <a:picLocks noChangeAspect="1"/>
          </p:cNvPicPr>
          <p:nvPr/>
        </p:nvPicPr>
        <p:blipFill>
          <a:blip r:embed="rId10">
            <a:extLst/>
          </a:blip>
          <a:stretch>
            <a:fillRect/>
          </a:stretch>
        </p:blipFill>
        <p:spPr>
          <a:xfrm>
            <a:off x="2841296" y="1752138"/>
            <a:ext cx="2716422" cy="1928129"/>
          </a:xfrm>
          <a:prstGeom prst="rect">
            <a:avLst/>
          </a:prstGeom>
          <a:ln w="12700">
            <a:miter lim="400000"/>
          </a:ln>
        </p:spPr>
      </p:pic>
      <p:pic>
        <p:nvPicPr>
          <p:cNvPr id="252" name="Picture 20" descr="Picture 20"/>
          <p:cNvPicPr>
            <a:picLocks noChangeAspect="1"/>
          </p:cNvPicPr>
          <p:nvPr/>
        </p:nvPicPr>
        <p:blipFill>
          <a:blip r:embed="rId11">
            <a:extLst/>
          </a:blip>
          <a:stretch>
            <a:fillRect/>
          </a:stretch>
        </p:blipFill>
        <p:spPr>
          <a:xfrm>
            <a:off x="2623643" y="3697316"/>
            <a:ext cx="3029554" cy="3013857"/>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Title 1"/>
          <p:cNvSpPr txBox="1"/>
          <p:nvPr>
            <p:ph type="title"/>
          </p:nvPr>
        </p:nvSpPr>
        <p:spPr>
          <a:xfrm>
            <a:off x="87168" y="42282"/>
            <a:ext cx="5231009" cy="953137"/>
          </a:xfrm>
          <a:prstGeom prst="rect">
            <a:avLst/>
          </a:prstGeom>
        </p:spPr>
        <p:txBody>
          <a:bodyPr/>
          <a:lstStyle>
            <a:lvl1pPr algn="ctr" defTabSz="795527">
              <a:defRPr sz="3393"/>
            </a:lvl1pPr>
          </a:lstStyle>
          <a:p>
            <a:pPr/>
            <a:r>
              <a:t>Full Image → PCA → KNN</a:t>
            </a:r>
          </a:p>
        </p:txBody>
      </p:sp>
      <p:pic>
        <p:nvPicPr>
          <p:cNvPr id="255" name="Picture 4" descr="Picture 4"/>
          <p:cNvPicPr>
            <a:picLocks noChangeAspect="1"/>
          </p:cNvPicPr>
          <p:nvPr/>
        </p:nvPicPr>
        <p:blipFill>
          <a:blip r:embed="rId2">
            <a:extLst/>
          </a:blip>
          <a:stretch>
            <a:fillRect/>
          </a:stretch>
        </p:blipFill>
        <p:spPr>
          <a:xfrm>
            <a:off x="117896" y="4168140"/>
            <a:ext cx="2572628" cy="2556723"/>
          </a:xfrm>
          <a:prstGeom prst="rect">
            <a:avLst/>
          </a:prstGeom>
          <a:ln w="12700">
            <a:miter lim="400000"/>
          </a:ln>
        </p:spPr>
      </p:pic>
      <p:pic>
        <p:nvPicPr>
          <p:cNvPr id="256" name="Picture 6" descr="Picture 6"/>
          <p:cNvPicPr>
            <a:picLocks noChangeAspect="1"/>
          </p:cNvPicPr>
          <p:nvPr/>
        </p:nvPicPr>
        <p:blipFill>
          <a:blip r:embed="rId3">
            <a:extLst/>
          </a:blip>
          <a:stretch>
            <a:fillRect/>
          </a:stretch>
        </p:blipFill>
        <p:spPr>
          <a:xfrm>
            <a:off x="149334" y="3272778"/>
            <a:ext cx="2723322" cy="833908"/>
          </a:xfrm>
          <a:prstGeom prst="rect">
            <a:avLst/>
          </a:prstGeom>
          <a:ln>
            <a:solidFill>
              <a:srgbClr val="000000"/>
            </a:solidFill>
          </a:ln>
        </p:spPr>
      </p:pic>
      <p:pic>
        <p:nvPicPr>
          <p:cNvPr id="257" name="Picture 8" descr="Picture 8"/>
          <p:cNvPicPr>
            <a:picLocks noChangeAspect="1"/>
          </p:cNvPicPr>
          <p:nvPr/>
        </p:nvPicPr>
        <p:blipFill>
          <a:blip r:embed="rId4">
            <a:extLst/>
          </a:blip>
          <a:stretch>
            <a:fillRect/>
          </a:stretch>
        </p:blipFill>
        <p:spPr>
          <a:xfrm>
            <a:off x="3054587" y="3272780"/>
            <a:ext cx="2726462" cy="833908"/>
          </a:xfrm>
          <a:prstGeom prst="rect">
            <a:avLst/>
          </a:prstGeom>
          <a:ln>
            <a:solidFill>
              <a:srgbClr val="000000"/>
            </a:solidFill>
          </a:ln>
        </p:spPr>
      </p:pic>
      <p:pic>
        <p:nvPicPr>
          <p:cNvPr id="258" name="Picture 10" descr="Picture 10"/>
          <p:cNvPicPr>
            <a:picLocks noChangeAspect="1"/>
          </p:cNvPicPr>
          <p:nvPr/>
        </p:nvPicPr>
        <p:blipFill>
          <a:blip r:embed="rId5">
            <a:extLst/>
          </a:blip>
          <a:stretch>
            <a:fillRect/>
          </a:stretch>
        </p:blipFill>
        <p:spPr>
          <a:xfrm>
            <a:off x="3054587" y="4168140"/>
            <a:ext cx="2556724" cy="2556723"/>
          </a:xfrm>
          <a:prstGeom prst="rect">
            <a:avLst/>
          </a:prstGeom>
          <a:ln w="12700">
            <a:miter lim="400000"/>
          </a:ln>
        </p:spPr>
      </p:pic>
      <p:pic>
        <p:nvPicPr>
          <p:cNvPr id="259" name="Picture 12" descr="Picture 12"/>
          <p:cNvPicPr>
            <a:picLocks noChangeAspect="1"/>
          </p:cNvPicPr>
          <p:nvPr/>
        </p:nvPicPr>
        <p:blipFill>
          <a:blip r:embed="rId6">
            <a:extLst/>
          </a:blip>
          <a:stretch>
            <a:fillRect/>
          </a:stretch>
        </p:blipFill>
        <p:spPr>
          <a:xfrm>
            <a:off x="5959840" y="3272778"/>
            <a:ext cx="2703713" cy="786431"/>
          </a:xfrm>
          <a:prstGeom prst="rect">
            <a:avLst/>
          </a:prstGeom>
          <a:ln>
            <a:solidFill>
              <a:srgbClr val="000000"/>
            </a:solidFill>
          </a:ln>
        </p:spPr>
      </p:pic>
      <p:pic>
        <p:nvPicPr>
          <p:cNvPr id="260" name="Picture 14" descr="Picture 14"/>
          <p:cNvPicPr>
            <a:picLocks noChangeAspect="1"/>
          </p:cNvPicPr>
          <p:nvPr/>
        </p:nvPicPr>
        <p:blipFill>
          <a:blip r:embed="rId7">
            <a:extLst/>
          </a:blip>
          <a:stretch>
            <a:fillRect/>
          </a:stretch>
        </p:blipFill>
        <p:spPr>
          <a:xfrm>
            <a:off x="5975375" y="4168140"/>
            <a:ext cx="2556723" cy="2556723"/>
          </a:xfrm>
          <a:prstGeom prst="rect">
            <a:avLst/>
          </a:prstGeom>
          <a:ln w="12700">
            <a:miter lim="400000"/>
          </a:ln>
        </p:spPr>
      </p:pic>
      <p:pic>
        <p:nvPicPr>
          <p:cNvPr id="261" name="Picture 16" descr="Picture 16"/>
          <p:cNvPicPr>
            <a:picLocks noChangeAspect="1"/>
          </p:cNvPicPr>
          <p:nvPr/>
        </p:nvPicPr>
        <p:blipFill>
          <a:blip r:embed="rId8">
            <a:extLst/>
          </a:blip>
          <a:srcRect l="0" t="0" r="0" b="5597"/>
          <a:stretch>
            <a:fillRect/>
          </a:stretch>
        </p:blipFill>
        <p:spPr>
          <a:xfrm>
            <a:off x="8868233" y="3272778"/>
            <a:ext cx="2807278" cy="786431"/>
          </a:xfrm>
          <a:prstGeom prst="rect">
            <a:avLst/>
          </a:prstGeom>
          <a:ln>
            <a:solidFill>
              <a:srgbClr val="000000"/>
            </a:solidFill>
          </a:ln>
        </p:spPr>
      </p:pic>
      <p:pic>
        <p:nvPicPr>
          <p:cNvPr id="262" name="Picture 18" descr="Picture 18"/>
          <p:cNvPicPr>
            <a:picLocks noChangeAspect="1"/>
          </p:cNvPicPr>
          <p:nvPr/>
        </p:nvPicPr>
        <p:blipFill>
          <a:blip r:embed="rId9">
            <a:extLst/>
          </a:blip>
          <a:stretch>
            <a:fillRect/>
          </a:stretch>
        </p:blipFill>
        <p:spPr>
          <a:xfrm>
            <a:off x="8961676" y="4168140"/>
            <a:ext cx="2556723" cy="2576635"/>
          </a:xfrm>
          <a:prstGeom prst="rect">
            <a:avLst/>
          </a:prstGeom>
          <a:ln w="12700">
            <a:miter lim="400000"/>
          </a:ln>
        </p:spPr>
      </p:pic>
      <p:pic>
        <p:nvPicPr>
          <p:cNvPr id="263" name="Picture 19" descr="Picture 19"/>
          <p:cNvPicPr>
            <a:picLocks noChangeAspect="1"/>
          </p:cNvPicPr>
          <p:nvPr/>
        </p:nvPicPr>
        <p:blipFill>
          <a:blip r:embed="rId10">
            <a:extLst/>
          </a:blip>
          <a:srcRect l="0" t="0" r="52915" b="0"/>
          <a:stretch>
            <a:fillRect/>
          </a:stretch>
        </p:blipFill>
        <p:spPr>
          <a:xfrm>
            <a:off x="8704816" y="120039"/>
            <a:ext cx="2561266" cy="2556724"/>
          </a:xfrm>
          <a:prstGeom prst="rect">
            <a:avLst/>
          </a:prstGeom>
          <a:ln w="12700">
            <a:miter lim="400000"/>
          </a:ln>
        </p:spPr>
      </p:pic>
      <p:pic>
        <p:nvPicPr>
          <p:cNvPr id="264" name="Picture 20" descr="Picture 20"/>
          <p:cNvPicPr>
            <a:picLocks noChangeAspect="1"/>
          </p:cNvPicPr>
          <p:nvPr/>
        </p:nvPicPr>
        <p:blipFill>
          <a:blip r:embed="rId11">
            <a:extLst/>
          </a:blip>
          <a:stretch>
            <a:fillRect/>
          </a:stretch>
        </p:blipFill>
        <p:spPr>
          <a:xfrm>
            <a:off x="5611309" y="754132"/>
            <a:ext cx="3006955" cy="927748"/>
          </a:xfrm>
          <a:prstGeom prst="rect">
            <a:avLst/>
          </a:prstGeom>
          <a:ln>
            <a:solidFill>
              <a:srgbClr val="000000"/>
            </a:solidFill>
          </a:ln>
        </p:spPr>
      </p:pic>
      <p:sp>
        <p:nvSpPr>
          <p:cNvPr id="265" name="TextBox 21"/>
          <p:cNvSpPr txBox="1"/>
          <p:nvPr/>
        </p:nvSpPr>
        <p:spPr>
          <a:xfrm>
            <a:off x="5738515" y="236383"/>
            <a:ext cx="2659609"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18x27 = 486 dimensions</a:t>
            </a:r>
          </a:p>
        </p:txBody>
      </p:sp>
      <p:sp>
        <p:nvSpPr>
          <p:cNvPr id="266" name="TextBox 22"/>
          <p:cNvSpPr txBox="1"/>
          <p:nvPr/>
        </p:nvSpPr>
        <p:spPr>
          <a:xfrm>
            <a:off x="525262" y="2826342"/>
            <a:ext cx="1757894"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3 dimensions</a:t>
            </a:r>
          </a:p>
        </p:txBody>
      </p:sp>
      <p:sp>
        <p:nvSpPr>
          <p:cNvPr id="267" name="TextBox 23"/>
          <p:cNvSpPr txBox="1"/>
          <p:nvPr/>
        </p:nvSpPr>
        <p:spPr>
          <a:xfrm>
            <a:off x="3346513" y="2856146"/>
            <a:ext cx="1757893"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50 dimensions</a:t>
            </a:r>
          </a:p>
        </p:txBody>
      </p:sp>
      <p:sp>
        <p:nvSpPr>
          <p:cNvPr id="268" name="TextBox 24"/>
          <p:cNvSpPr txBox="1"/>
          <p:nvPr/>
        </p:nvSpPr>
        <p:spPr>
          <a:xfrm>
            <a:off x="6177349" y="2819299"/>
            <a:ext cx="1757894"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100 dimensions</a:t>
            </a:r>
          </a:p>
        </p:txBody>
      </p:sp>
      <p:sp>
        <p:nvSpPr>
          <p:cNvPr id="269" name="TextBox 25"/>
          <p:cNvSpPr txBox="1"/>
          <p:nvPr/>
        </p:nvSpPr>
        <p:spPr>
          <a:xfrm>
            <a:off x="9217729" y="2818621"/>
            <a:ext cx="1757893"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200 dimensions</a:t>
            </a:r>
          </a:p>
        </p:txBody>
      </p:sp>
      <p:pic>
        <p:nvPicPr>
          <p:cNvPr id="270" name="Picture 27" descr="Picture 27"/>
          <p:cNvPicPr>
            <a:picLocks noChangeAspect="1"/>
          </p:cNvPicPr>
          <p:nvPr/>
        </p:nvPicPr>
        <p:blipFill>
          <a:blip r:embed="rId12">
            <a:extLst/>
          </a:blip>
          <a:stretch>
            <a:fillRect/>
          </a:stretch>
        </p:blipFill>
        <p:spPr>
          <a:xfrm>
            <a:off x="8916305" y="3086955"/>
            <a:ext cx="2629129" cy="167656"/>
          </a:xfrm>
          <a:prstGeom prst="rect">
            <a:avLst/>
          </a:prstGeom>
          <a:ln w="12700">
            <a:miter lim="400000"/>
          </a:ln>
        </p:spPr>
      </p:pic>
      <p:pic>
        <p:nvPicPr>
          <p:cNvPr id="271" name="Picture 29" descr="Picture 29"/>
          <p:cNvPicPr>
            <a:picLocks noChangeAspect="1"/>
          </p:cNvPicPr>
          <p:nvPr/>
        </p:nvPicPr>
        <p:blipFill>
          <a:blip r:embed="rId13">
            <a:extLst/>
          </a:blip>
          <a:stretch>
            <a:fillRect/>
          </a:stretch>
        </p:blipFill>
        <p:spPr>
          <a:xfrm>
            <a:off x="5975375" y="3120752"/>
            <a:ext cx="2629129" cy="121932"/>
          </a:xfrm>
          <a:prstGeom prst="rect">
            <a:avLst/>
          </a:prstGeom>
          <a:ln w="12700">
            <a:miter lim="400000"/>
          </a:ln>
        </p:spPr>
      </p:pic>
      <p:pic>
        <p:nvPicPr>
          <p:cNvPr id="272" name="Picture 31" descr="Picture 31"/>
          <p:cNvPicPr>
            <a:picLocks noChangeAspect="1"/>
          </p:cNvPicPr>
          <p:nvPr/>
        </p:nvPicPr>
        <p:blipFill>
          <a:blip r:embed="rId14">
            <a:extLst/>
          </a:blip>
          <a:stretch>
            <a:fillRect/>
          </a:stretch>
        </p:blipFill>
        <p:spPr>
          <a:xfrm>
            <a:off x="3109019" y="3108462"/>
            <a:ext cx="2606267" cy="129552"/>
          </a:xfrm>
          <a:prstGeom prst="rect">
            <a:avLst/>
          </a:prstGeom>
          <a:ln w="12700">
            <a:miter lim="400000"/>
          </a:ln>
        </p:spPr>
      </p:pic>
      <p:pic>
        <p:nvPicPr>
          <p:cNvPr id="273" name="Picture 33" descr="Picture 33"/>
          <p:cNvPicPr>
            <a:picLocks noChangeAspect="1"/>
          </p:cNvPicPr>
          <p:nvPr/>
        </p:nvPicPr>
        <p:blipFill>
          <a:blip r:embed="rId15">
            <a:extLst/>
          </a:blip>
          <a:stretch>
            <a:fillRect/>
          </a:stretch>
        </p:blipFill>
        <p:spPr>
          <a:xfrm>
            <a:off x="242156" y="3091933"/>
            <a:ext cx="2537680" cy="167656"/>
          </a:xfrm>
          <a:prstGeom prst="rect">
            <a:avLst/>
          </a:prstGeom>
          <a:ln w="12700">
            <a:miter lim="400000"/>
          </a:ln>
        </p:spPr>
      </p:pic>
      <p:pic>
        <p:nvPicPr>
          <p:cNvPr id="274" name="Picture 35" descr="Picture 35"/>
          <p:cNvPicPr>
            <a:picLocks noChangeAspect="1"/>
          </p:cNvPicPr>
          <p:nvPr/>
        </p:nvPicPr>
        <p:blipFill>
          <a:blip r:embed="rId16">
            <a:extLst/>
          </a:blip>
          <a:stretch>
            <a:fillRect/>
          </a:stretch>
        </p:blipFill>
        <p:spPr>
          <a:xfrm>
            <a:off x="5618119" y="589879"/>
            <a:ext cx="2636749" cy="129552"/>
          </a:xfrm>
          <a:prstGeom prst="rect">
            <a:avLst/>
          </a:prstGeom>
          <a:ln w="12700">
            <a:miter lim="400000"/>
          </a:ln>
        </p:spPr>
      </p:pic>
      <p:pic>
        <p:nvPicPr>
          <p:cNvPr id="275" name="Picture 37" descr="Picture 37"/>
          <p:cNvPicPr>
            <a:picLocks noChangeAspect="1"/>
          </p:cNvPicPr>
          <p:nvPr/>
        </p:nvPicPr>
        <p:blipFill>
          <a:blip r:embed="rId17">
            <a:extLst/>
          </a:blip>
          <a:stretch>
            <a:fillRect/>
          </a:stretch>
        </p:blipFill>
        <p:spPr>
          <a:xfrm>
            <a:off x="1562833" y="806061"/>
            <a:ext cx="1924351" cy="1453646"/>
          </a:xfrm>
          <a:prstGeom prst="rect">
            <a:avLst/>
          </a:prstGeom>
          <a:ln>
            <a:solidFill>
              <a:srgbClr val="000000"/>
            </a:solidFill>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Title 1"/>
          <p:cNvSpPr txBox="1"/>
          <p:nvPr>
            <p:ph type="title"/>
          </p:nvPr>
        </p:nvSpPr>
        <p:spPr>
          <a:xfrm>
            <a:off x="838200" y="365125"/>
            <a:ext cx="10515600" cy="1325563"/>
          </a:xfrm>
          <a:prstGeom prst="rect">
            <a:avLst/>
          </a:prstGeom>
        </p:spPr>
        <p:txBody>
          <a:bodyPr/>
          <a:lstStyle>
            <a:lvl1pPr algn="ctr"/>
          </a:lstStyle>
          <a:p>
            <a:pPr/>
            <a:r>
              <a:t>Full Image → PCA → KNN → LOOCV</a:t>
            </a:r>
          </a:p>
        </p:txBody>
      </p:sp>
      <p:sp>
        <p:nvSpPr>
          <p:cNvPr id="278" name="Content Placeholder 2"/>
          <p:cNvSpPr txBox="1"/>
          <p:nvPr>
            <p:ph type="body" sz="half" idx="1"/>
          </p:nvPr>
        </p:nvSpPr>
        <p:spPr>
          <a:xfrm>
            <a:off x="5860026" y="1825623"/>
            <a:ext cx="5493775" cy="4595259"/>
          </a:xfrm>
          <a:prstGeom prst="rect">
            <a:avLst/>
          </a:prstGeom>
        </p:spPr>
        <p:txBody>
          <a:bodyPr/>
          <a:lstStyle/>
          <a:p>
            <a:pPr/>
            <a:r>
              <a:t>Accuracy changed from 92.5% to 96.26%, ceteris paribus. </a:t>
            </a:r>
          </a:p>
        </p:txBody>
      </p:sp>
      <p:grpSp>
        <p:nvGrpSpPr>
          <p:cNvPr id="283" name="Group 9"/>
          <p:cNvGrpSpPr/>
          <p:nvPr/>
        </p:nvGrpSpPr>
        <p:grpSpPr>
          <a:xfrm>
            <a:off x="1166921" y="1825625"/>
            <a:ext cx="3840814" cy="4595258"/>
            <a:chOff x="0" y="0"/>
            <a:chExt cx="3840812" cy="4595257"/>
          </a:xfrm>
        </p:grpSpPr>
        <p:pic>
          <p:nvPicPr>
            <p:cNvPr id="279" name="Picture 4" descr="Picture 4"/>
            <p:cNvPicPr>
              <a:picLocks noChangeAspect="1"/>
            </p:cNvPicPr>
            <p:nvPr/>
          </p:nvPicPr>
          <p:blipFill>
            <a:blip r:embed="rId2">
              <a:extLst/>
            </a:blip>
            <a:stretch>
              <a:fillRect/>
            </a:stretch>
          </p:blipFill>
          <p:spPr>
            <a:xfrm>
              <a:off x="0" y="0"/>
              <a:ext cx="3840813" cy="4595258"/>
            </a:xfrm>
            <a:prstGeom prst="rect">
              <a:avLst/>
            </a:prstGeom>
            <a:ln w="12700" cap="flat">
              <a:noFill/>
              <a:miter lim="400000"/>
            </a:ln>
            <a:effectLst/>
          </p:spPr>
        </p:pic>
        <p:sp>
          <p:nvSpPr>
            <p:cNvPr id="280" name="Oval 5"/>
            <p:cNvSpPr/>
            <p:nvPr/>
          </p:nvSpPr>
          <p:spPr>
            <a:xfrm>
              <a:off x="1469554" y="2781458"/>
              <a:ext cx="53397" cy="51145"/>
            </a:xfrm>
            <a:prstGeom prst="ellipse">
              <a:avLst/>
            </a:prstGeom>
            <a:solidFill>
              <a:srgbClr val="000000"/>
            </a:solidFill>
            <a:ln w="19050" cap="flat">
              <a:solidFill>
                <a:srgbClr val="092937"/>
              </a:solidFill>
              <a:prstDash val="solid"/>
              <a:miter lim="800000"/>
            </a:ln>
            <a:effectLst/>
          </p:spPr>
          <p:txBody>
            <a:bodyPr wrap="square" lIns="45719" tIns="45719" rIns="45719" bIns="45719" numCol="1" anchor="ctr">
              <a:noAutofit/>
            </a:bodyPr>
            <a:lstStyle/>
            <a:p>
              <a:pPr algn="ctr">
                <a:defRPr>
                  <a:solidFill>
                    <a:srgbClr val="FFFFFF"/>
                  </a:solidFill>
                </a:defRPr>
              </a:pPr>
            </a:p>
          </p:txBody>
        </p:sp>
        <p:sp>
          <p:nvSpPr>
            <p:cNvPr id="281" name="Oval 6"/>
            <p:cNvSpPr/>
            <p:nvPr/>
          </p:nvSpPr>
          <p:spPr>
            <a:xfrm>
              <a:off x="1469555" y="2692673"/>
              <a:ext cx="53397" cy="51145"/>
            </a:xfrm>
            <a:prstGeom prst="ellipse">
              <a:avLst/>
            </a:prstGeom>
            <a:solidFill>
              <a:srgbClr val="000000"/>
            </a:solidFill>
            <a:ln w="19050" cap="flat">
              <a:solidFill>
                <a:srgbClr val="092937"/>
              </a:solidFill>
              <a:prstDash val="solid"/>
              <a:miter lim="800000"/>
            </a:ln>
            <a:effectLst/>
          </p:spPr>
          <p:txBody>
            <a:bodyPr wrap="square" lIns="45719" tIns="45719" rIns="45719" bIns="45719" numCol="1" anchor="ctr">
              <a:noAutofit/>
            </a:bodyPr>
            <a:lstStyle/>
            <a:p>
              <a:pPr algn="ctr">
                <a:defRPr>
                  <a:solidFill>
                    <a:srgbClr val="FFFFFF"/>
                  </a:solidFill>
                </a:defRPr>
              </a:pPr>
            </a:p>
          </p:txBody>
        </p:sp>
        <p:sp>
          <p:nvSpPr>
            <p:cNvPr id="282" name="Oval 7"/>
            <p:cNvSpPr/>
            <p:nvPr/>
          </p:nvSpPr>
          <p:spPr>
            <a:xfrm>
              <a:off x="1469554" y="2603888"/>
              <a:ext cx="53397" cy="51145"/>
            </a:xfrm>
            <a:prstGeom prst="ellipse">
              <a:avLst/>
            </a:prstGeom>
            <a:solidFill>
              <a:srgbClr val="000000"/>
            </a:solidFill>
            <a:ln w="19050" cap="flat">
              <a:solidFill>
                <a:srgbClr val="092937"/>
              </a:solidFill>
              <a:prstDash val="solid"/>
              <a:miter lim="800000"/>
            </a:ln>
            <a:effectLst/>
          </p:spPr>
          <p:txBody>
            <a:bodyPr wrap="square" lIns="45719" tIns="45719" rIns="45719" bIns="45719" numCol="1" anchor="ctr">
              <a:noAutofit/>
            </a:bodyPr>
            <a:lstStyle/>
            <a:p>
              <a:pPr algn="ctr">
                <a:defRPr>
                  <a:solidFill>
                    <a:srgbClr val="FFFFFF"/>
                  </a:solidFill>
                </a:defRPr>
              </a:pPr>
            </a:p>
          </p:txBody>
        </p:sp>
      </p:gr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Title 1"/>
          <p:cNvSpPr txBox="1"/>
          <p:nvPr>
            <p:ph type="title"/>
          </p:nvPr>
        </p:nvSpPr>
        <p:spPr>
          <a:xfrm>
            <a:off x="838200" y="-154584"/>
            <a:ext cx="10515600" cy="1325563"/>
          </a:xfrm>
          <a:prstGeom prst="rect">
            <a:avLst/>
          </a:prstGeom>
        </p:spPr>
        <p:txBody>
          <a:bodyPr/>
          <a:lstStyle>
            <a:lvl1pPr algn="ctr"/>
          </a:lstStyle>
          <a:p>
            <a:pPr/>
            <a:r>
              <a:t>HOG → KNN</a:t>
            </a:r>
          </a:p>
        </p:txBody>
      </p:sp>
      <p:pic>
        <p:nvPicPr>
          <p:cNvPr id="286" name="Picture 4" descr="Picture 4"/>
          <p:cNvPicPr>
            <a:picLocks noChangeAspect="1"/>
          </p:cNvPicPr>
          <p:nvPr/>
        </p:nvPicPr>
        <p:blipFill>
          <a:blip r:embed="rId2">
            <a:extLst/>
          </a:blip>
          <a:stretch>
            <a:fillRect/>
          </a:stretch>
        </p:blipFill>
        <p:spPr>
          <a:xfrm>
            <a:off x="5081913" y="776572"/>
            <a:ext cx="2054652" cy="1165770"/>
          </a:xfrm>
          <a:prstGeom prst="rect">
            <a:avLst/>
          </a:prstGeom>
          <a:ln>
            <a:solidFill>
              <a:srgbClr val="000000"/>
            </a:solidFill>
          </a:ln>
        </p:spPr>
      </p:pic>
      <p:grpSp>
        <p:nvGrpSpPr>
          <p:cNvPr id="290" name="Group 20"/>
          <p:cNvGrpSpPr/>
          <p:nvPr/>
        </p:nvGrpSpPr>
        <p:grpSpPr>
          <a:xfrm>
            <a:off x="7475273" y="786964"/>
            <a:ext cx="4450276" cy="5704586"/>
            <a:chOff x="0" y="0"/>
            <a:chExt cx="4450274" cy="5704586"/>
          </a:xfrm>
        </p:grpSpPr>
        <p:pic>
          <p:nvPicPr>
            <p:cNvPr id="287" name="Picture 12" descr="Picture 12"/>
            <p:cNvPicPr>
              <a:picLocks noChangeAspect="1"/>
            </p:cNvPicPr>
            <p:nvPr/>
          </p:nvPicPr>
          <p:blipFill>
            <a:blip r:embed="rId3">
              <a:extLst/>
            </a:blip>
            <a:stretch>
              <a:fillRect/>
            </a:stretch>
          </p:blipFill>
          <p:spPr>
            <a:xfrm>
              <a:off x="327481" y="1897561"/>
              <a:ext cx="3795310" cy="3807025"/>
            </a:xfrm>
            <a:prstGeom prst="rect">
              <a:avLst/>
            </a:prstGeom>
            <a:ln w="12700" cap="flat">
              <a:noFill/>
              <a:miter lim="400000"/>
            </a:ln>
            <a:effectLst/>
          </p:spPr>
        </p:pic>
        <p:pic>
          <p:nvPicPr>
            <p:cNvPr id="288" name="Picture 14" descr="Picture 14"/>
            <p:cNvPicPr>
              <a:picLocks noChangeAspect="1"/>
            </p:cNvPicPr>
            <p:nvPr/>
          </p:nvPicPr>
          <p:blipFill>
            <a:blip r:embed="rId4">
              <a:extLst/>
            </a:blip>
            <a:stretch>
              <a:fillRect/>
            </a:stretch>
          </p:blipFill>
          <p:spPr>
            <a:xfrm>
              <a:off x="0" y="460856"/>
              <a:ext cx="4450275" cy="1302751"/>
            </a:xfrm>
            <a:prstGeom prst="rect">
              <a:avLst/>
            </a:prstGeom>
            <a:ln w="12700" cap="flat">
              <a:noFill/>
              <a:miter lim="400000"/>
            </a:ln>
            <a:effectLst/>
          </p:spPr>
        </p:pic>
        <p:sp>
          <p:nvSpPr>
            <p:cNvPr id="289" name="TextBox 18"/>
            <p:cNvSpPr txBox="1"/>
            <p:nvPr/>
          </p:nvSpPr>
          <p:spPr>
            <a:xfrm>
              <a:off x="152299" y="-1"/>
              <a:ext cx="3656023"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stStyle>
            <a:p>
              <a:pPr/>
              <a:r>
                <a:t>Histogram equalization ON</a:t>
              </a:r>
            </a:p>
          </p:txBody>
        </p:sp>
      </p:grpSp>
      <p:grpSp>
        <p:nvGrpSpPr>
          <p:cNvPr id="295" name="Group 21"/>
          <p:cNvGrpSpPr/>
          <p:nvPr/>
        </p:nvGrpSpPr>
        <p:grpSpPr>
          <a:xfrm>
            <a:off x="487176" y="786964"/>
            <a:ext cx="4229553" cy="5871722"/>
            <a:chOff x="0" y="0"/>
            <a:chExt cx="4229551" cy="5871721"/>
          </a:xfrm>
        </p:grpSpPr>
        <p:pic>
          <p:nvPicPr>
            <p:cNvPr id="291" name="Picture 10" descr="Picture 10"/>
            <p:cNvPicPr>
              <a:picLocks noChangeAspect="1"/>
            </p:cNvPicPr>
            <p:nvPr/>
          </p:nvPicPr>
          <p:blipFill>
            <a:blip r:embed="rId5">
              <a:extLst/>
            </a:blip>
            <a:stretch>
              <a:fillRect/>
            </a:stretch>
          </p:blipFill>
          <p:spPr>
            <a:xfrm>
              <a:off x="243258" y="1877808"/>
              <a:ext cx="3743037" cy="3750074"/>
            </a:xfrm>
            <a:prstGeom prst="rect">
              <a:avLst/>
            </a:prstGeom>
            <a:ln w="12700" cap="flat">
              <a:noFill/>
              <a:miter lim="400000"/>
            </a:ln>
            <a:effectLst/>
          </p:spPr>
        </p:pic>
        <p:pic>
          <p:nvPicPr>
            <p:cNvPr id="292" name="Picture 16" descr="Picture 16"/>
            <p:cNvPicPr>
              <a:picLocks noChangeAspect="1"/>
            </p:cNvPicPr>
            <p:nvPr/>
          </p:nvPicPr>
          <p:blipFill>
            <a:blip r:embed="rId6">
              <a:extLst/>
            </a:blip>
            <a:stretch>
              <a:fillRect/>
            </a:stretch>
          </p:blipFill>
          <p:spPr>
            <a:xfrm>
              <a:off x="0" y="503757"/>
              <a:ext cx="4229552" cy="1275855"/>
            </a:xfrm>
            <a:prstGeom prst="rect">
              <a:avLst/>
            </a:prstGeom>
            <a:ln w="12700" cap="flat">
              <a:noFill/>
              <a:miter lim="400000"/>
            </a:ln>
            <a:effectLst/>
          </p:spPr>
        </p:pic>
        <p:sp>
          <p:nvSpPr>
            <p:cNvPr id="293" name="TextBox 17"/>
            <p:cNvSpPr txBox="1"/>
            <p:nvPr/>
          </p:nvSpPr>
          <p:spPr>
            <a:xfrm>
              <a:off x="288978" y="0"/>
              <a:ext cx="3604408" cy="370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stStyle>
            <a:p>
              <a:pPr/>
              <a:r>
                <a:t>Histogram equalization OFF</a:t>
              </a:r>
            </a:p>
          </p:txBody>
        </p:sp>
        <p:sp>
          <p:nvSpPr>
            <p:cNvPr id="294" name="TextBox 19"/>
            <p:cNvSpPr txBox="1"/>
            <p:nvPr/>
          </p:nvSpPr>
          <p:spPr>
            <a:xfrm>
              <a:off x="223337" y="5627881"/>
              <a:ext cx="3960495"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1000"/>
              </a:lvl1pPr>
            </a:lstStyle>
            <a:p>
              <a:pPr/>
              <a:r>
                <a:t>Detector looks better even though accuracy is lower</a:t>
              </a:r>
            </a:p>
          </p:txBody>
        </p:sp>
      </p:gr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Title 1"/>
          <p:cNvSpPr txBox="1"/>
          <p:nvPr>
            <p:ph type="title"/>
          </p:nvPr>
        </p:nvSpPr>
        <p:spPr>
          <a:xfrm>
            <a:off x="838200" y="365125"/>
            <a:ext cx="10515600" cy="824578"/>
          </a:xfrm>
          <a:prstGeom prst="rect">
            <a:avLst/>
          </a:prstGeom>
        </p:spPr>
        <p:txBody>
          <a:bodyPr/>
          <a:lstStyle>
            <a:lvl1pPr algn="ctr"/>
          </a:lstStyle>
          <a:p>
            <a:pPr/>
            <a:r>
              <a:t>HOG → SVM</a:t>
            </a:r>
          </a:p>
        </p:txBody>
      </p:sp>
      <p:pic>
        <p:nvPicPr>
          <p:cNvPr id="298" name="Picture 4" descr="Picture 4"/>
          <p:cNvPicPr>
            <a:picLocks noChangeAspect="1"/>
          </p:cNvPicPr>
          <p:nvPr/>
        </p:nvPicPr>
        <p:blipFill>
          <a:blip r:embed="rId2">
            <a:extLst/>
          </a:blip>
          <a:stretch>
            <a:fillRect/>
          </a:stretch>
        </p:blipFill>
        <p:spPr>
          <a:xfrm>
            <a:off x="5895583" y="1318962"/>
            <a:ext cx="5309593" cy="5317813"/>
          </a:xfrm>
          <a:prstGeom prst="rect">
            <a:avLst/>
          </a:prstGeom>
          <a:ln w="12700">
            <a:miter lim="400000"/>
          </a:ln>
        </p:spPr>
      </p:pic>
      <p:pic>
        <p:nvPicPr>
          <p:cNvPr id="299" name="Picture 6" descr="Picture 6"/>
          <p:cNvPicPr>
            <a:picLocks noChangeAspect="1"/>
          </p:cNvPicPr>
          <p:nvPr/>
        </p:nvPicPr>
        <p:blipFill>
          <a:blip r:embed="rId3">
            <a:extLst/>
          </a:blip>
          <a:stretch>
            <a:fillRect/>
          </a:stretch>
        </p:blipFill>
        <p:spPr>
          <a:xfrm>
            <a:off x="1094978" y="1439154"/>
            <a:ext cx="3182055" cy="1429911"/>
          </a:xfrm>
          <a:prstGeom prst="rect">
            <a:avLst/>
          </a:prstGeom>
          <a:ln w="12700">
            <a:miter lim="400000"/>
          </a:ln>
        </p:spPr>
      </p:pic>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Title 1"/>
          <p:cNvSpPr txBox="1"/>
          <p:nvPr>
            <p:ph type="title"/>
          </p:nvPr>
        </p:nvSpPr>
        <p:spPr>
          <a:xfrm>
            <a:off x="820993" y="263702"/>
            <a:ext cx="10515601" cy="824578"/>
          </a:xfrm>
          <a:prstGeom prst="rect">
            <a:avLst/>
          </a:prstGeom>
        </p:spPr>
        <p:txBody>
          <a:bodyPr/>
          <a:lstStyle>
            <a:lvl1pPr algn="ctr"/>
          </a:lstStyle>
          <a:p>
            <a:pPr/>
            <a:r>
              <a:t>HOG → Standalone Decision Tree</a:t>
            </a:r>
          </a:p>
        </p:txBody>
      </p:sp>
      <p:pic>
        <p:nvPicPr>
          <p:cNvPr id="302" name="Picture 4" descr="Picture 4"/>
          <p:cNvPicPr>
            <a:picLocks noChangeAspect="1"/>
          </p:cNvPicPr>
          <p:nvPr/>
        </p:nvPicPr>
        <p:blipFill>
          <a:blip r:embed="rId2">
            <a:extLst/>
          </a:blip>
          <a:stretch>
            <a:fillRect/>
          </a:stretch>
        </p:blipFill>
        <p:spPr>
          <a:xfrm>
            <a:off x="6096000" y="1296653"/>
            <a:ext cx="5240595" cy="5297645"/>
          </a:xfrm>
          <a:prstGeom prst="rect">
            <a:avLst/>
          </a:prstGeom>
          <a:ln w="12700">
            <a:miter lim="400000"/>
          </a:ln>
        </p:spPr>
      </p:pic>
      <p:pic>
        <p:nvPicPr>
          <p:cNvPr id="303" name="Picture 6" descr="Picture 6"/>
          <p:cNvPicPr>
            <a:picLocks noChangeAspect="1"/>
          </p:cNvPicPr>
          <p:nvPr/>
        </p:nvPicPr>
        <p:blipFill>
          <a:blip r:embed="rId3">
            <a:extLst/>
          </a:blip>
          <a:stretch>
            <a:fillRect/>
          </a:stretch>
        </p:blipFill>
        <p:spPr>
          <a:xfrm>
            <a:off x="1397674" y="1582534"/>
            <a:ext cx="3067178" cy="1325563"/>
          </a:xfrm>
          <a:prstGeom prst="rect">
            <a:avLst/>
          </a:prstGeom>
          <a:ln>
            <a:solidFill>
              <a:srgbClr val="000000"/>
            </a:solidFill>
          </a:ln>
        </p:spPr>
      </p:pic>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Title 1"/>
          <p:cNvSpPr txBox="1"/>
          <p:nvPr>
            <p:ph type="title"/>
          </p:nvPr>
        </p:nvSpPr>
        <p:spPr>
          <a:xfrm>
            <a:off x="838200" y="365125"/>
            <a:ext cx="10515600" cy="1325563"/>
          </a:xfrm>
          <a:prstGeom prst="rect">
            <a:avLst/>
          </a:prstGeom>
        </p:spPr>
        <p:txBody>
          <a:bodyPr/>
          <a:lstStyle/>
          <a:p>
            <a:pPr defTabSz="868680">
              <a:defRPr sz="4180"/>
            </a:pPr>
            <a:r>
              <a:t>HOG → Random Forest (</a:t>
            </a:r>
            <a:r>
              <a:t>10 &amp; 50 &amp; 100 Trees)</a:t>
            </a:r>
          </a:p>
        </p:txBody>
      </p:sp>
      <p:pic>
        <p:nvPicPr>
          <p:cNvPr id="306" name="Content Placeholder 4" descr="Content Placeholder 4"/>
          <p:cNvPicPr>
            <a:picLocks noChangeAspect="1"/>
          </p:cNvPicPr>
          <p:nvPr/>
        </p:nvPicPr>
        <p:blipFill>
          <a:blip r:embed="rId2">
            <a:extLst/>
          </a:blip>
          <a:stretch>
            <a:fillRect/>
          </a:stretch>
        </p:blipFill>
        <p:spPr>
          <a:xfrm>
            <a:off x="8160052" y="2428174"/>
            <a:ext cx="2341064" cy="875571"/>
          </a:xfrm>
          <a:prstGeom prst="rect">
            <a:avLst/>
          </a:prstGeom>
          <a:ln>
            <a:solidFill>
              <a:srgbClr val="000000"/>
            </a:solidFill>
          </a:ln>
        </p:spPr>
      </p:pic>
      <p:pic>
        <p:nvPicPr>
          <p:cNvPr id="307" name="Picture 6" descr="Picture 6"/>
          <p:cNvPicPr>
            <a:picLocks noChangeAspect="1"/>
          </p:cNvPicPr>
          <p:nvPr/>
        </p:nvPicPr>
        <p:blipFill>
          <a:blip r:embed="rId3">
            <a:extLst/>
          </a:blip>
          <a:stretch>
            <a:fillRect/>
          </a:stretch>
        </p:blipFill>
        <p:spPr>
          <a:xfrm>
            <a:off x="7767025" y="3429000"/>
            <a:ext cx="3127117" cy="3151471"/>
          </a:xfrm>
          <a:prstGeom prst="rect">
            <a:avLst/>
          </a:prstGeom>
          <a:ln w="12700">
            <a:miter lim="400000"/>
          </a:ln>
        </p:spPr>
      </p:pic>
      <p:sp>
        <p:nvSpPr>
          <p:cNvPr id="308" name="TextBox 7"/>
          <p:cNvSpPr txBox="1"/>
          <p:nvPr/>
        </p:nvSpPr>
        <p:spPr>
          <a:xfrm>
            <a:off x="8756869" y="2018022"/>
            <a:ext cx="1147426"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100 Trees</a:t>
            </a:r>
          </a:p>
        </p:txBody>
      </p:sp>
      <p:pic>
        <p:nvPicPr>
          <p:cNvPr id="309" name="Picture 3" descr="Picture 3"/>
          <p:cNvPicPr>
            <a:picLocks noChangeAspect="1"/>
          </p:cNvPicPr>
          <p:nvPr/>
        </p:nvPicPr>
        <p:blipFill>
          <a:blip r:embed="rId4">
            <a:extLst/>
          </a:blip>
          <a:stretch>
            <a:fillRect/>
          </a:stretch>
        </p:blipFill>
        <p:spPr>
          <a:xfrm>
            <a:off x="343900" y="3453353"/>
            <a:ext cx="3127116" cy="3127117"/>
          </a:xfrm>
          <a:prstGeom prst="rect">
            <a:avLst/>
          </a:prstGeom>
          <a:ln w="12700">
            <a:miter lim="400000"/>
          </a:ln>
        </p:spPr>
      </p:pic>
      <p:pic>
        <p:nvPicPr>
          <p:cNvPr id="310" name="Picture 8" descr="Picture 8"/>
          <p:cNvPicPr>
            <a:picLocks noChangeAspect="1"/>
          </p:cNvPicPr>
          <p:nvPr/>
        </p:nvPicPr>
        <p:blipFill>
          <a:blip r:embed="rId5">
            <a:extLst/>
          </a:blip>
          <a:stretch>
            <a:fillRect/>
          </a:stretch>
        </p:blipFill>
        <p:spPr>
          <a:xfrm>
            <a:off x="877044" y="2433172"/>
            <a:ext cx="2060827" cy="896012"/>
          </a:xfrm>
          <a:prstGeom prst="rect">
            <a:avLst/>
          </a:prstGeom>
          <a:ln>
            <a:solidFill>
              <a:srgbClr val="000000"/>
            </a:solidFill>
          </a:ln>
        </p:spPr>
      </p:pic>
      <p:sp>
        <p:nvSpPr>
          <p:cNvPr id="311" name="TextBox 9"/>
          <p:cNvSpPr txBox="1"/>
          <p:nvPr/>
        </p:nvSpPr>
        <p:spPr>
          <a:xfrm>
            <a:off x="1333744" y="2018022"/>
            <a:ext cx="1147425"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10 Trees</a:t>
            </a:r>
          </a:p>
        </p:txBody>
      </p:sp>
      <p:pic>
        <p:nvPicPr>
          <p:cNvPr id="312" name="Picture 11" descr="Picture 11"/>
          <p:cNvPicPr>
            <a:picLocks noChangeAspect="1"/>
          </p:cNvPicPr>
          <p:nvPr/>
        </p:nvPicPr>
        <p:blipFill>
          <a:blip r:embed="rId6">
            <a:extLst/>
          </a:blip>
          <a:stretch>
            <a:fillRect/>
          </a:stretch>
        </p:blipFill>
        <p:spPr>
          <a:xfrm>
            <a:off x="3962627" y="3429000"/>
            <a:ext cx="3127117" cy="3127116"/>
          </a:xfrm>
          <a:prstGeom prst="rect">
            <a:avLst/>
          </a:prstGeom>
          <a:ln w="12700">
            <a:miter lim="400000"/>
          </a:ln>
        </p:spPr>
      </p:pic>
      <p:pic>
        <p:nvPicPr>
          <p:cNvPr id="313" name="Picture 13" descr="Picture 13"/>
          <p:cNvPicPr>
            <a:picLocks noChangeAspect="1"/>
          </p:cNvPicPr>
          <p:nvPr/>
        </p:nvPicPr>
        <p:blipFill>
          <a:blip r:embed="rId7">
            <a:extLst/>
          </a:blip>
          <a:stretch>
            <a:fillRect/>
          </a:stretch>
        </p:blipFill>
        <p:spPr>
          <a:xfrm>
            <a:off x="4495772" y="2433172"/>
            <a:ext cx="2060829" cy="895441"/>
          </a:xfrm>
          <a:prstGeom prst="rect">
            <a:avLst/>
          </a:prstGeom>
          <a:ln>
            <a:solidFill>
              <a:srgbClr val="000000"/>
            </a:solidFill>
          </a:ln>
        </p:spPr>
      </p:pic>
      <p:sp>
        <p:nvSpPr>
          <p:cNvPr id="314" name="TextBox 14"/>
          <p:cNvSpPr txBox="1"/>
          <p:nvPr/>
        </p:nvSpPr>
        <p:spPr>
          <a:xfrm>
            <a:off x="4952472" y="1999698"/>
            <a:ext cx="1147426"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50 Trees</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Title 1"/>
          <p:cNvSpPr txBox="1"/>
          <p:nvPr>
            <p:ph type="title"/>
          </p:nvPr>
        </p:nvSpPr>
        <p:spPr>
          <a:xfrm>
            <a:off x="838200" y="202566"/>
            <a:ext cx="10515600" cy="882071"/>
          </a:xfrm>
          <a:prstGeom prst="rect">
            <a:avLst/>
          </a:prstGeom>
        </p:spPr>
        <p:txBody>
          <a:bodyPr/>
          <a:lstStyle>
            <a:lvl1pPr algn="ctr"/>
          </a:lstStyle>
          <a:p>
            <a:pPr/>
            <a:r>
              <a:t>HOG → AdaBoost</a:t>
            </a:r>
          </a:p>
        </p:txBody>
      </p:sp>
      <p:pic>
        <p:nvPicPr>
          <p:cNvPr id="317" name="Picture 4" descr="Picture 4"/>
          <p:cNvPicPr>
            <a:picLocks noChangeAspect="1"/>
          </p:cNvPicPr>
          <p:nvPr/>
        </p:nvPicPr>
        <p:blipFill>
          <a:blip r:embed="rId2">
            <a:extLst/>
          </a:blip>
          <a:stretch>
            <a:fillRect/>
          </a:stretch>
        </p:blipFill>
        <p:spPr>
          <a:xfrm>
            <a:off x="7947573" y="3121008"/>
            <a:ext cx="3517987" cy="3534426"/>
          </a:xfrm>
          <a:prstGeom prst="rect">
            <a:avLst/>
          </a:prstGeom>
          <a:ln w="12700">
            <a:miter lim="400000"/>
          </a:ln>
        </p:spPr>
      </p:pic>
      <p:sp>
        <p:nvSpPr>
          <p:cNvPr id="318" name="TextBox 5"/>
          <p:cNvSpPr txBox="1"/>
          <p:nvPr/>
        </p:nvSpPr>
        <p:spPr>
          <a:xfrm>
            <a:off x="8731789" y="1559894"/>
            <a:ext cx="2079363"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200 Weak learners</a:t>
            </a:r>
          </a:p>
        </p:txBody>
      </p:sp>
      <p:pic>
        <p:nvPicPr>
          <p:cNvPr id="319" name="Picture 7" descr="Picture 7"/>
          <p:cNvPicPr>
            <a:picLocks noChangeAspect="1"/>
          </p:cNvPicPr>
          <p:nvPr/>
        </p:nvPicPr>
        <p:blipFill>
          <a:blip r:embed="rId3">
            <a:extLst/>
          </a:blip>
          <a:stretch>
            <a:fillRect/>
          </a:stretch>
        </p:blipFill>
        <p:spPr>
          <a:xfrm>
            <a:off x="8686069" y="1919652"/>
            <a:ext cx="2040996" cy="882071"/>
          </a:xfrm>
          <a:prstGeom prst="rect">
            <a:avLst/>
          </a:prstGeom>
          <a:ln>
            <a:solidFill>
              <a:srgbClr val="000000"/>
            </a:solidFill>
          </a:ln>
        </p:spPr>
      </p:pic>
      <p:pic>
        <p:nvPicPr>
          <p:cNvPr id="320" name="Picture 9" descr="Picture 9"/>
          <p:cNvPicPr>
            <a:picLocks noChangeAspect="1"/>
          </p:cNvPicPr>
          <p:nvPr/>
        </p:nvPicPr>
        <p:blipFill>
          <a:blip r:embed="rId4">
            <a:extLst/>
          </a:blip>
          <a:stretch>
            <a:fillRect/>
          </a:stretch>
        </p:blipFill>
        <p:spPr>
          <a:xfrm>
            <a:off x="838200" y="1929226"/>
            <a:ext cx="1989352" cy="882071"/>
          </a:xfrm>
          <a:prstGeom prst="rect">
            <a:avLst/>
          </a:prstGeom>
          <a:ln>
            <a:solidFill>
              <a:srgbClr val="000000"/>
            </a:solidFill>
          </a:ln>
        </p:spPr>
      </p:pic>
      <p:sp>
        <p:nvSpPr>
          <p:cNvPr id="321" name="TextBox 10"/>
          <p:cNvSpPr txBox="1"/>
          <p:nvPr/>
        </p:nvSpPr>
        <p:spPr>
          <a:xfrm>
            <a:off x="881352" y="1595118"/>
            <a:ext cx="2578861"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10 Weak learners</a:t>
            </a:r>
          </a:p>
        </p:txBody>
      </p:sp>
      <p:pic>
        <p:nvPicPr>
          <p:cNvPr id="322" name="Picture 12" descr="Picture 12"/>
          <p:cNvPicPr>
            <a:picLocks noChangeAspect="1"/>
          </p:cNvPicPr>
          <p:nvPr/>
        </p:nvPicPr>
        <p:blipFill>
          <a:blip r:embed="rId5">
            <a:extLst/>
          </a:blip>
          <a:stretch>
            <a:fillRect/>
          </a:stretch>
        </p:blipFill>
        <p:spPr>
          <a:xfrm>
            <a:off x="226436" y="3131992"/>
            <a:ext cx="3517987" cy="3523443"/>
          </a:xfrm>
          <a:prstGeom prst="rect">
            <a:avLst/>
          </a:prstGeom>
          <a:ln w="12700">
            <a:miter lim="400000"/>
          </a:ln>
        </p:spPr>
      </p:pic>
      <p:pic>
        <p:nvPicPr>
          <p:cNvPr id="323" name="Picture 16" descr="Picture 16"/>
          <p:cNvPicPr>
            <a:picLocks noChangeAspect="1"/>
          </p:cNvPicPr>
          <p:nvPr/>
        </p:nvPicPr>
        <p:blipFill>
          <a:blip r:embed="rId6">
            <a:extLst/>
          </a:blip>
          <a:stretch>
            <a:fillRect/>
          </a:stretch>
        </p:blipFill>
        <p:spPr>
          <a:xfrm>
            <a:off x="4851322" y="2007455"/>
            <a:ext cx="1989353" cy="891131"/>
          </a:xfrm>
          <a:prstGeom prst="rect">
            <a:avLst/>
          </a:prstGeom>
          <a:ln>
            <a:solidFill>
              <a:srgbClr val="000000"/>
            </a:solidFill>
          </a:ln>
        </p:spPr>
      </p:pic>
      <p:sp>
        <p:nvSpPr>
          <p:cNvPr id="324" name="TextBox 17"/>
          <p:cNvSpPr txBox="1"/>
          <p:nvPr/>
        </p:nvSpPr>
        <p:spPr>
          <a:xfrm>
            <a:off x="4884631" y="1638124"/>
            <a:ext cx="2189758"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100 Weak learners</a:t>
            </a:r>
          </a:p>
        </p:txBody>
      </p:sp>
      <p:pic>
        <p:nvPicPr>
          <p:cNvPr id="325" name="Picture 19" descr="Picture 19"/>
          <p:cNvPicPr>
            <a:picLocks noChangeAspect="1"/>
          </p:cNvPicPr>
          <p:nvPr/>
        </p:nvPicPr>
        <p:blipFill>
          <a:blip r:embed="rId7">
            <a:extLst/>
          </a:blip>
          <a:stretch>
            <a:fillRect/>
          </a:stretch>
        </p:blipFill>
        <p:spPr>
          <a:xfrm>
            <a:off x="4087005" y="3121008"/>
            <a:ext cx="3517987" cy="3539906"/>
          </a:xfrm>
          <a:prstGeom prst="rect">
            <a:avLst/>
          </a:prstGeom>
          <a:ln w="12700">
            <a:miter lim="400000"/>
          </a:ln>
        </p:spPr>
      </p:pic>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7" name="Title 1"/>
          <p:cNvSpPr txBox="1"/>
          <p:nvPr>
            <p:ph type="title"/>
          </p:nvPr>
        </p:nvSpPr>
        <p:spPr>
          <a:xfrm>
            <a:off x="838200" y="365125"/>
            <a:ext cx="10515600" cy="850121"/>
          </a:xfrm>
          <a:prstGeom prst="rect">
            <a:avLst/>
          </a:prstGeom>
        </p:spPr>
        <p:txBody>
          <a:bodyPr/>
          <a:lstStyle/>
          <a:p>
            <a:pPr algn="ctr"/>
            <a:r>
              <a:t>Gabor </a:t>
            </a:r>
            <a:r>
              <a:t>→ KNN</a:t>
            </a:r>
          </a:p>
        </p:txBody>
      </p:sp>
      <p:pic>
        <p:nvPicPr>
          <p:cNvPr id="328" name="Picture 4" descr="Picture 4"/>
          <p:cNvPicPr>
            <a:picLocks noChangeAspect="1"/>
          </p:cNvPicPr>
          <p:nvPr/>
        </p:nvPicPr>
        <p:blipFill>
          <a:blip r:embed="rId2">
            <a:extLst/>
          </a:blip>
          <a:stretch>
            <a:fillRect/>
          </a:stretch>
        </p:blipFill>
        <p:spPr>
          <a:xfrm>
            <a:off x="346587" y="1702197"/>
            <a:ext cx="5080819" cy="5088698"/>
          </a:xfrm>
          <a:prstGeom prst="rect">
            <a:avLst/>
          </a:prstGeom>
          <a:ln w="12700">
            <a:miter lim="400000"/>
          </a:ln>
        </p:spPr>
      </p:pic>
      <p:pic>
        <p:nvPicPr>
          <p:cNvPr id="329" name="Picture 6" descr="Picture 6"/>
          <p:cNvPicPr>
            <a:picLocks noChangeAspect="1"/>
          </p:cNvPicPr>
          <p:nvPr/>
        </p:nvPicPr>
        <p:blipFill>
          <a:blip r:embed="rId3">
            <a:extLst/>
          </a:blip>
          <a:stretch>
            <a:fillRect/>
          </a:stretch>
        </p:blipFill>
        <p:spPr>
          <a:xfrm>
            <a:off x="6304798" y="1702197"/>
            <a:ext cx="4718874" cy="1381884"/>
          </a:xfrm>
          <a:prstGeom prst="rect">
            <a:avLst/>
          </a:prstGeom>
          <a:ln>
            <a:solidFill>
              <a:srgbClr val="000000"/>
            </a:solidFill>
          </a:ln>
        </p:spPr>
      </p:pic>
      <p:pic>
        <p:nvPicPr>
          <p:cNvPr id="330" name="Picture 3" descr="Picture 3"/>
          <p:cNvPicPr>
            <a:picLocks noChangeAspect="1"/>
          </p:cNvPicPr>
          <p:nvPr/>
        </p:nvPicPr>
        <p:blipFill>
          <a:blip r:embed="rId4">
            <a:extLst/>
          </a:blip>
          <a:stretch>
            <a:fillRect/>
          </a:stretch>
        </p:blipFill>
        <p:spPr>
          <a:xfrm>
            <a:off x="6304798" y="3533959"/>
            <a:ext cx="4718874" cy="3215149"/>
          </a:xfrm>
          <a:prstGeom prst="rect">
            <a:avLst/>
          </a:prstGeom>
          <a:ln w="12700">
            <a:miter lim="400000"/>
          </a:ln>
        </p:spPr>
      </p:pic>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2" name="Title 1"/>
          <p:cNvSpPr txBox="1"/>
          <p:nvPr>
            <p:ph type="title"/>
          </p:nvPr>
        </p:nvSpPr>
        <p:spPr>
          <a:xfrm>
            <a:off x="838200" y="67144"/>
            <a:ext cx="10515600" cy="752476"/>
          </a:xfrm>
          <a:prstGeom prst="rect">
            <a:avLst/>
          </a:prstGeom>
        </p:spPr>
        <p:txBody>
          <a:bodyPr/>
          <a:lstStyle/>
          <a:p>
            <a:pPr algn="ctr" defTabSz="896111">
              <a:defRPr sz="4312"/>
            </a:pPr>
            <a:r>
              <a:t>Gabor </a:t>
            </a:r>
            <a:r>
              <a:t>→ SVM</a:t>
            </a:r>
          </a:p>
        </p:txBody>
      </p:sp>
      <p:pic>
        <p:nvPicPr>
          <p:cNvPr id="333" name="Picture 2" descr="Picture 2"/>
          <p:cNvPicPr>
            <a:picLocks noChangeAspect="1"/>
          </p:cNvPicPr>
          <p:nvPr/>
        </p:nvPicPr>
        <p:blipFill>
          <a:blip r:embed="rId2">
            <a:extLst/>
          </a:blip>
          <a:srcRect l="0" t="212" r="0" b="0"/>
          <a:stretch>
            <a:fillRect/>
          </a:stretch>
        </p:blipFill>
        <p:spPr>
          <a:xfrm>
            <a:off x="7574174" y="2404727"/>
            <a:ext cx="4412720" cy="4386130"/>
          </a:xfrm>
          <a:prstGeom prst="rect">
            <a:avLst/>
          </a:prstGeom>
          <a:ln w="12700">
            <a:miter lim="400000"/>
          </a:ln>
        </p:spPr>
      </p:pic>
      <p:pic>
        <p:nvPicPr>
          <p:cNvPr id="334" name="Picture 4" descr="Picture 4"/>
          <p:cNvPicPr>
            <a:picLocks noChangeAspect="1"/>
          </p:cNvPicPr>
          <p:nvPr/>
        </p:nvPicPr>
        <p:blipFill>
          <a:blip r:embed="rId3">
            <a:extLst/>
          </a:blip>
          <a:stretch>
            <a:fillRect/>
          </a:stretch>
        </p:blipFill>
        <p:spPr>
          <a:xfrm>
            <a:off x="8172701" y="819620"/>
            <a:ext cx="3661794" cy="1457607"/>
          </a:xfrm>
          <a:prstGeom prst="rect">
            <a:avLst/>
          </a:prstGeom>
          <a:ln>
            <a:solidFill>
              <a:srgbClr val="000000"/>
            </a:solidFill>
          </a:ln>
        </p:spPr>
      </p:pic>
      <p:pic>
        <p:nvPicPr>
          <p:cNvPr id="335" name="Picture 6" descr="Picture 6"/>
          <p:cNvPicPr>
            <a:picLocks noChangeAspect="1"/>
          </p:cNvPicPr>
          <p:nvPr/>
        </p:nvPicPr>
        <p:blipFill>
          <a:blip r:embed="rId4">
            <a:extLst/>
          </a:blip>
          <a:stretch>
            <a:fillRect/>
          </a:stretch>
        </p:blipFill>
        <p:spPr>
          <a:xfrm>
            <a:off x="3301913" y="2404727"/>
            <a:ext cx="4013511" cy="4386129"/>
          </a:xfrm>
          <a:prstGeom prst="rect">
            <a:avLst/>
          </a:prstGeom>
          <a:ln>
            <a:solidFill>
              <a:srgbClr val="000000"/>
            </a:solidFill>
          </a:ln>
        </p:spPr>
      </p:pic>
      <p:sp>
        <p:nvSpPr>
          <p:cNvPr id="336" name="TextBox 3"/>
          <p:cNvSpPr txBox="1"/>
          <p:nvPr/>
        </p:nvSpPr>
        <p:spPr>
          <a:xfrm>
            <a:off x="250825" y="1046479"/>
            <a:ext cx="2822575" cy="3444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SzPct val="100000"/>
              <a:buFont typeface="Arial"/>
              <a:buChar char="•"/>
            </a:pPr>
            <a:r>
              <a:t>Tried to play with hyperparameters of SVM (tried changing gaussian, changing ‘c’, changing lambda)</a:t>
            </a:r>
          </a:p>
          <a:p>
            <a:pPr marL="285750" indent="-285750">
              <a:buSzPct val="100000"/>
              <a:buFont typeface="Arial"/>
              <a:buChar char="•"/>
            </a:pPr>
          </a:p>
          <a:p>
            <a:pPr marL="285750" indent="-285750">
              <a:buSzPct val="100000"/>
              <a:buFont typeface="Arial"/>
              <a:buChar char="•"/>
            </a:pPr>
            <a:r>
              <a:t>Tried to normalize data</a:t>
            </a:r>
          </a:p>
          <a:p>
            <a:pPr marL="285750" indent="-285750">
              <a:buSzPct val="100000"/>
              <a:buFont typeface="Arial"/>
              <a:buChar char="•"/>
            </a:pPr>
          </a:p>
          <a:p>
            <a:pPr marL="285750" indent="-285750">
              <a:buSzPct val="100000"/>
              <a:buFont typeface="Arial"/>
              <a:buChar char="•"/>
            </a:pPr>
            <a:r>
              <a:t>Tried to remove low variance features</a:t>
            </a:r>
          </a:p>
          <a:p>
            <a:pPr marL="285750" indent="-285750">
              <a:buSzPct val="100000"/>
              <a:buFont typeface="Arial"/>
              <a:buChar char="•"/>
            </a:pPr>
          </a:p>
          <a:p>
            <a:pPr/>
            <a:r>
              <a:t>… but nothing worked still.</a:t>
            </a:r>
          </a:p>
        </p:txBody>
      </p:sp>
      <p:sp>
        <p:nvSpPr>
          <p:cNvPr id="337" name="Oval 4"/>
          <p:cNvSpPr/>
          <p:nvPr/>
        </p:nvSpPr>
        <p:spPr>
          <a:xfrm>
            <a:off x="8053368" y="997711"/>
            <a:ext cx="4012775" cy="343409"/>
          </a:xfrm>
          <a:prstGeom prst="ellipse">
            <a:avLst/>
          </a:prstGeom>
          <a:ln w="19050">
            <a:solidFill>
              <a:srgbClr val="C00000"/>
            </a:solidFill>
            <a:miter/>
          </a:ln>
        </p:spPr>
        <p:txBody>
          <a:bodyPr lIns="45719" rIns="45719"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9" name="Title 1"/>
          <p:cNvSpPr txBox="1"/>
          <p:nvPr>
            <p:ph type="title"/>
          </p:nvPr>
        </p:nvSpPr>
        <p:spPr>
          <a:xfrm>
            <a:off x="838200" y="365125"/>
            <a:ext cx="10515600" cy="1325563"/>
          </a:xfrm>
          <a:prstGeom prst="rect">
            <a:avLst/>
          </a:prstGeom>
        </p:spPr>
        <p:txBody>
          <a:bodyPr/>
          <a:lstStyle/>
          <a:p>
            <a:pPr algn="ctr"/>
            <a:r>
              <a:t>Gabor </a:t>
            </a:r>
            <a:r>
              <a:t>→ Standalone Decision Tree</a:t>
            </a:r>
          </a:p>
        </p:txBody>
      </p:sp>
      <p:pic>
        <p:nvPicPr>
          <p:cNvPr id="340" name="Picture 4" descr="Picture 4"/>
          <p:cNvPicPr>
            <a:picLocks noChangeAspect="1"/>
          </p:cNvPicPr>
          <p:nvPr/>
        </p:nvPicPr>
        <p:blipFill>
          <a:blip r:embed="rId2">
            <a:extLst/>
          </a:blip>
          <a:stretch>
            <a:fillRect/>
          </a:stretch>
        </p:blipFill>
        <p:spPr>
          <a:xfrm>
            <a:off x="884019" y="1833835"/>
            <a:ext cx="4732572" cy="4747247"/>
          </a:xfrm>
          <a:prstGeom prst="rect">
            <a:avLst/>
          </a:prstGeom>
          <a:ln w="12700">
            <a:miter lim="400000"/>
          </a:ln>
        </p:spPr>
      </p:pic>
      <p:pic>
        <p:nvPicPr>
          <p:cNvPr id="341" name="Picture 6" descr="Picture 6"/>
          <p:cNvPicPr>
            <a:picLocks noChangeAspect="1"/>
          </p:cNvPicPr>
          <p:nvPr/>
        </p:nvPicPr>
        <p:blipFill>
          <a:blip r:embed="rId3">
            <a:extLst/>
          </a:blip>
          <a:stretch>
            <a:fillRect/>
          </a:stretch>
        </p:blipFill>
        <p:spPr>
          <a:xfrm>
            <a:off x="6575411" y="2964090"/>
            <a:ext cx="3571341" cy="1630911"/>
          </a:xfrm>
          <a:prstGeom prst="rect">
            <a:avLst/>
          </a:prstGeom>
          <a:ln>
            <a:solidFill>
              <a:srgbClr val="000000"/>
            </a:solidFill>
          </a:ln>
        </p:spPr>
      </p:pic>
      <p:sp>
        <p:nvSpPr>
          <p:cNvPr id="342" name="Oval 7"/>
          <p:cNvSpPr/>
          <p:nvPr/>
        </p:nvSpPr>
        <p:spPr>
          <a:xfrm>
            <a:off x="6486143" y="3193244"/>
            <a:ext cx="3779522" cy="342437"/>
          </a:xfrm>
          <a:prstGeom prst="ellipse">
            <a:avLst/>
          </a:prstGeom>
          <a:ln w="19050">
            <a:solidFill>
              <a:srgbClr val="C00000"/>
            </a:solidFill>
            <a:miter/>
          </a:ln>
        </p:spPr>
        <p:txBody>
          <a:bodyPr lIns="45719" rIns="45719"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4" name="Title 1"/>
          <p:cNvSpPr txBox="1"/>
          <p:nvPr>
            <p:ph type="title"/>
          </p:nvPr>
        </p:nvSpPr>
        <p:spPr>
          <a:xfrm>
            <a:off x="838200" y="365125"/>
            <a:ext cx="10515600" cy="650875"/>
          </a:xfrm>
          <a:prstGeom prst="rect">
            <a:avLst/>
          </a:prstGeom>
        </p:spPr>
        <p:txBody>
          <a:bodyPr/>
          <a:lstStyle/>
          <a:p>
            <a:pPr algn="ctr" defTabSz="859536">
              <a:defRPr sz="3666"/>
            </a:pPr>
            <a:r>
              <a:t>Gabor </a:t>
            </a:r>
            <a:r>
              <a:t>→ Random Forest</a:t>
            </a:r>
          </a:p>
        </p:txBody>
      </p:sp>
      <p:pic>
        <p:nvPicPr>
          <p:cNvPr id="345" name="Content Placeholder 4" descr="Content Placeholder 4"/>
          <p:cNvPicPr>
            <a:picLocks noChangeAspect="1"/>
          </p:cNvPicPr>
          <p:nvPr/>
        </p:nvPicPr>
        <p:blipFill>
          <a:blip r:embed="rId2">
            <a:extLst/>
          </a:blip>
          <a:stretch>
            <a:fillRect/>
          </a:stretch>
        </p:blipFill>
        <p:spPr>
          <a:xfrm>
            <a:off x="8886091" y="1764426"/>
            <a:ext cx="2263337" cy="1028791"/>
          </a:xfrm>
          <a:prstGeom prst="rect">
            <a:avLst/>
          </a:prstGeom>
          <a:ln>
            <a:solidFill>
              <a:srgbClr val="000000"/>
            </a:solidFill>
          </a:ln>
        </p:spPr>
      </p:pic>
      <p:sp>
        <p:nvSpPr>
          <p:cNvPr id="346" name="TextBox 5"/>
          <p:cNvSpPr txBox="1"/>
          <p:nvPr/>
        </p:nvSpPr>
        <p:spPr>
          <a:xfrm>
            <a:off x="9444047" y="1321355"/>
            <a:ext cx="1147426"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100 Trees</a:t>
            </a:r>
          </a:p>
        </p:txBody>
      </p:sp>
      <p:pic>
        <p:nvPicPr>
          <p:cNvPr id="347" name="Picture 7" descr="Picture 7"/>
          <p:cNvPicPr>
            <a:picLocks noChangeAspect="1"/>
          </p:cNvPicPr>
          <p:nvPr/>
        </p:nvPicPr>
        <p:blipFill>
          <a:blip r:embed="rId3">
            <a:extLst/>
          </a:blip>
          <a:stretch>
            <a:fillRect/>
          </a:stretch>
        </p:blipFill>
        <p:spPr>
          <a:xfrm>
            <a:off x="8145778" y="2831584"/>
            <a:ext cx="3627448" cy="3650050"/>
          </a:xfrm>
          <a:prstGeom prst="rect">
            <a:avLst/>
          </a:prstGeom>
          <a:ln w="12700">
            <a:miter lim="400000"/>
          </a:ln>
        </p:spPr>
      </p:pic>
      <p:grpSp>
        <p:nvGrpSpPr>
          <p:cNvPr id="350" name="Group 11"/>
          <p:cNvGrpSpPr/>
          <p:nvPr/>
        </p:nvGrpSpPr>
        <p:grpSpPr>
          <a:xfrm>
            <a:off x="781048" y="1671409"/>
            <a:ext cx="2181880" cy="970292"/>
            <a:chOff x="0" y="0"/>
            <a:chExt cx="2181878" cy="970290"/>
          </a:xfrm>
        </p:grpSpPr>
        <p:pic>
          <p:nvPicPr>
            <p:cNvPr id="348" name="Picture 9" descr="Picture 9"/>
            <p:cNvPicPr>
              <a:picLocks noChangeAspect="1"/>
            </p:cNvPicPr>
            <p:nvPr/>
          </p:nvPicPr>
          <p:blipFill>
            <a:blip r:embed="rId4">
              <a:extLst/>
            </a:blip>
            <a:stretch>
              <a:fillRect/>
            </a:stretch>
          </p:blipFill>
          <p:spPr>
            <a:xfrm>
              <a:off x="57150" y="0"/>
              <a:ext cx="2124728" cy="970291"/>
            </a:xfrm>
            <a:prstGeom prst="rect">
              <a:avLst/>
            </a:prstGeom>
            <a:ln w="9525" cap="flat">
              <a:solidFill>
                <a:srgbClr val="000000"/>
              </a:solidFill>
              <a:prstDash val="solid"/>
              <a:round/>
            </a:ln>
            <a:effectLst/>
          </p:spPr>
        </p:pic>
        <p:sp>
          <p:nvSpPr>
            <p:cNvPr id="349" name="Oval 10"/>
            <p:cNvSpPr/>
            <p:nvPr/>
          </p:nvSpPr>
          <p:spPr>
            <a:xfrm>
              <a:off x="-1" y="142150"/>
              <a:ext cx="2181880" cy="198121"/>
            </a:xfrm>
            <a:prstGeom prst="ellipse">
              <a:avLst/>
            </a:prstGeom>
            <a:noFill/>
            <a:ln w="19050" cap="flat">
              <a:solidFill>
                <a:srgbClr val="C00000"/>
              </a:solidFill>
              <a:prstDash val="solid"/>
              <a:miter lim="800000"/>
            </a:ln>
            <a:effectLst/>
          </p:spPr>
          <p:txBody>
            <a:bodyPr wrap="square" lIns="45719" tIns="45719" rIns="45719" bIns="45719" numCol="1" anchor="ctr">
              <a:noAutofit/>
            </a:bodyPr>
            <a:lstStyle/>
            <a:p>
              <a:pPr algn="ctr">
                <a:defRPr>
                  <a:solidFill>
                    <a:srgbClr val="FFFFFF"/>
                  </a:solidFill>
                </a:defRPr>
              </a:pPr>
            </a:p>
          </p:txBody>
        </p:sp>
      </p:grpSp>
      <p:sp>
        <p:nvSpPr>
          <p:cNvPr id="351" name="Oval 12"/>
          <p:cNvSpPr/>
          <p:nvPr/>
        </p:nvSpPr>
        <p:spPr>
          <a:xfrm>
            <a:off x="8926820" y="1896984"/>
            <a:ext cx="2181879" cy="198121"/>
          </a:xfrm>
          <a:prstGeom prst="ellipse">
            <a:avLst/>
          </a:prstGeom>
          <a:ln w="19050">
            <a:solidFill>
              <a:srgbClr val="C00000"/>
            </a:solidFill>
            <a:miter/>
          </a:ln>
        </p:spPr>
        <p:txBody>
          <a:bodyPr lIns="45719" rIns="45719" anchor="ctr"/>
          <a:lstStyle/>
          <a:p>
            <a:pPr algn="ctr">
              <a:defRPr>
                <a:solidFill>
                  <a:srgbClr val="FFFFFF"/>
                </a:solidFill>
              </a:defRPr>
            </a:pPr>
          </a:p>
        </p:txBody>
      </p:sp>
      <p:pic>
        <p:nvPicPr>
          <p:cNvPr id="352" name="Picture 14" descr="Picture 14"/>
          <p:cNvPicPr>
            <a:picLocks noChangeAspect="1"/>
          </p:cNvPicPr>
          <p:nvPr/>
        </p:nvPicPr>
        <p:blipFill>
          <a:blip r:embed="rId5">
            <a:extLst/>
          </a:blip>
          <a:stretch>
            <a:fillRect/>
          </a:stretch>
        </p:blipFill>
        <p:spPr>
          <a:xfrm>
            <a:off x="4127732" y="2831584"/>
            <a:ext cx="3691443" cy="3708667"/>
          </a:xfrm>
          <a:prstGeom prst="rect">
            <a:avLst/>
          </a:prstGeom>
          <a:ln w="12700">
            <a:miter lim="400000"/>
          </a:ln>
        </p:spPr>
      </p:pic>
      <p:pic>
        <p:nvPicPr>
          <p:cNvPr id="353" name="Picture 15" descr="Picture 15"/>
          <p:cNvPicPr>
            <a:picLocks noChangeAspect="1"/>
          </p:cNvPicPr>
          <p:nvPr/>
        </p:nvPicPr>
        <p:blipFill>
          <a:blip r:embed="rId5">
            <a:extLst/>
          </a:blip>
          <a:stretch>
            <a:fillRect/>
          </a:stretch>
        </p:blipFill>
        <p:spPr>
          <a:xfrm>
            <a:off x="109684" y="2831584"/>
            <a:ext cx="3691444" cy="3708667"/>
          </a:xfrm>
          <a:prstGeom prst="rect">
            <a:avLst/>
          </a:prstGeom>
          <a:ln w="12700">
            <a:miter lim="400000"/>
          </a:ln>
        </p:spPr>
      </p:pic>
      <p:pic>
        <p:nvPicPr>
          <p:cNvPr id="354" name="Picture 17" descr="Picture 17"/>
          <p:cNvPicPr>
            <a:picLocks noChangeAspect="1"/>
          </p:cNvPicPr>
          <p:nvPr/>
        </p:nvPicPr>
        <p:blipFill>
          <a:blip r:embed="rId6">
            <a:extLst/>
          </a:blip>
          <a:stretch>
            <a:fillRect/>
          </a:stretch>
        </p:blipFill>
        <p:spPr>
          <a:xfrm>
            <a:off x="5004748" y="1580709"/>
            <a:ext cx="2182504" cy="1028790"/>
          </a:xfrm>
          <a:prstGeom prst="rect">
            <a:avLst/>
          </a:prstGeom>
          <a:ln w="12700">
            <a:miter lim="400000"/>
          </a:ln>
        </p:spPr>
      </p:pic>
      <p:sp>
        <p:nvSpPr>
          <p:cNvPr id="355" name="Oval 18"/>
          <p:cNvSpPr/>
          <p:nvPr/>
        </p:nvSpPr>
        <p:spPr>
          <a:xfrm>
            <a:off x="5005373" y="1733947"/>
            <a:ext cx="2181879" cy="198121"/>
          </a:xfrm>
          <a:prstGeom prst="ellipse">
            <a:avLst/>
          </a:prstGeom>
          <a:ln w="19050">
            <a:solidFill>
              <a:srgbClr val="C00000"/>
            </a:solidFill>
            <a:miter/>
          </a:ln>
        </p:spPr>
        <p:txBody>
          <a:bodyPr lIns="45719" rIns="45719" anchor="ctr"/>
          <a:lstStyle/>
          <a:p>
            <a:pPr algn="ctr">
              <a:defRPr>
                <a:solidFill>
                  <a:srgbClr val="FFFFFF"/>
                </a:solidFill>
              </a:defRPr>
            </a:pPr>
          </a:p>
        </p:txBody>
      </p:sp>
      <p:sp>
        <p:nvSpPr>
          <p:cNvPr id="356" name="TextBox 19"/>
          <p:cNvSpPr txBox="1"/>
          <p:nvPr/>
        </p:nvSpPr>
        <p:spPr>
          <a:xfrm>
            <a:off x="5522286" y="1205546"/>
            <a:ext cx="1147426"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50 Trees</a:t>
            </a:r>
          </a:p>
        </p:txBody>
      </p:sp>
      <p:sp>
        <p:nvSpPr>
          <p:cNvPr id="357" name="TextBox 20"/>
          <p:cNvSpPr txBox="1"/>
          <p:nvPr/>
        </p:nvSpPr>
        <p:spPr>
          <a:xfrm>
            <a:off x="1326850" y="1242085"/>
            <a:ext cx="1147426"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10 Trees</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Title 1"/>
          <p:cNvSpPr txBox="1"/>
          <p:nvPr>
            <p:ph type="title"/>
          </p:nvPr>
        </p:nvSpPr>
        <p:spPr>
          <a:xfrm>
            <a:off x="838200" y="365125"/>
            <a:ext cx="10515600" cy="945514"/>
          </a:xfrm>
          <a:prstGeom prst="rect">
            <a:avLst/>
          </a:prstGeom>
        </p:spPr>
        <p:txBody>
          <a:bodyPr/>
          <a:lstStyle/>
          <a:p>
            <a:pPr algn="ctr"/>
            <a:r>
              <a:t>Gabor </a:t>
            </a:r>
            <a:r>
              <a:t>→ AdaBoost</a:t>
            </a:r>
          </a:p>
        </p:txBody>
      </p:sp>
      <p:pic>
        <p:nvPicPr>
          <p:cNvPr id="360" name="Picture 4" descr="Picture 4"/>
          <p:cNvPicPr>
            <a:picLocks noChangeAspect="1"/>
          </p:cNvPicPr>
          <p:nvPr/>
        </p:nvPicPr>
        <p:blipFill>
          <a:blip r:embed="rId2">
            <a:extLst/>
          </a:blip>
          <a:stretch>
            <a:fillRect/>
          </a:stretch>
        </p:blipFill>
        <p:spPr>
          <a:xfrm>
            <a:off x="8717181" y="2000073"/>
            <a:ext cx="2255716" cy="1051652"/>
          </a:xfrm>
          <a:prstGeom prst="rect">
            <a:avLst/>
          </a:prstGeom>
          <a:ln>
            <a:solidFill>
              <a:srgbClr val="000000"/>
            </a:solidFill>
          </a:ln>
        </p:spPr>
      </p:pic>
      <p:pic>
        <p:nvPicPr>
          <p:cNvPr id="361" name="Picture 6" descr="Picture 6"/>
          <p:cNvPicPr>
            <a:picLocks noChangeAspect="1"/>
          </p:cNvPicPr>
          <p:nvPr/>
        </p:nvPicPr>
        <p:blipFill>
          <a:blip r:embed="rId3">
            <a:extLst/>
          </a:blip>
          <a:stretch>
            <a:fillRect/>
          </a:stretch>
        </p:blipFill>
        <p:spPr>
          <a:xfrm>
            <a:off x="8065662" y="3135135"/>
            <a:ext cx="3558753" cy="3580926"/>
          </a:xfrm>
          <a:prstGeom prst="rect">
            <a:avLst/>
          </a:prstGeom>
          <a:ln w="12700">
            <a:miter lim="400000"/>
          </a:ln>
        </p:spPr>
      </p:pic>
      <p:pic>
        <p:nvPicPr>
          <p:cNvPr id="362" name="Picture 7" descr="Picture 7"/>
          <p:cNvPicPr>
            <a:picLocks noChangeAspect="1"/>
          </p:cNvPicPr>
          <p:nvPr/>
        </p:nvPicPr>
        <p:blipFill>
          <a:blip r:embed="rId3">
            <a:extLst/>
          </a:blip>
          <a:stretch>
            <a:fillRect/>
          </a:stretch>
        </p:blipFill>
        <p:spPr>
          <a:xfrm>
            <a:off x="4114693" y="3135134"/>
            <a:ext cx="3558753" cy="3580925"/>
          </a:xfrm>
          <a:prstGeom prst="rect">
            <a:avLst/>
          </a:prstGeom>
          <a:ln w="12700">
            <a:miter lim="400000"/>
          </a:ln>
        </p:spPr>
      </p:pic>
      <p:pic>
        <p:nvPicPr>
          <p:cNvPr id="363" name="Picture 8" descr="Picture 8"/>
          <p:cNvPicPr>
            <a:picLocks noChangeAspect="1"/>
          </p:cNvPicPr>
          <p:nvPr/>
        </p:nvPicPr>
        <p:blipFill>
          <a:blip r:embed="rId3">
            <a:extLst/>
          </a:blip>
          <a:stretch>
            <a:fillRect/>
          </a:stretch>
        </p:blipFill>
        <p:spPr>
          <a:xfrm>
            <a:off x="163723" y="3135134"/>
            <a:ext cx="3558753" cy="3580925"/>
          </a:xfrm>
          <a:prstGeom prst="rect">
            <a:avLst/>
          </a:prstGeom>
          <a:ln w="12700">
            <a:miter lim="400000"/>
          </a:ln>
        </p:spPr>
      </p:pic>
      <p:pic>
        <p:nvPicPr>
          <p:cNvPr id="364" name="Picture 10" descr="Picture 10"/>
          <p:cNvPicPr>
            <a:picLocks noChangeAspect="1"/>
          </p:cNvPicPr>
          <p:nvPr/>
        </p:nvPicPr>
        <p:blipFill>
          <a:blip r:embed="rId4">
            <a:extLst/>
          </a:blip>
          <a:stretch>
            <a:fillRect/>
          </a:stretch>
        </p:blipFill>
        <p:spPr>
          <a:xfrm>
            <a:off x="818522" y="2000071"/>
            <a:ext cx="2249154" cy="1051652"/>
          </a:xfrm>
          <a:prstGeom prst="rect">
            <a:avLst/>
          </a:prstGeom>
          <a:ln>
            <a:solidFill>
              <a:srgbClr val="000000"/>
            </a:solidFill>
          </a:ln>
        </p:spPr>
      </p:pic>
      <p:pic>
        <p:nvPicPr>
          <p:cNvPr id="365" name="Picture 11" descr="Picture 11"/>
          <p:cNvPicPr>
            <a:picLocks noChangeAspect="1"/>
          </p:cNvPicPr>
          <p:nvPr/>
        </p:nvPicPr>
        <p:blipFill>
          <a:blip r:embed="rId4">
            <a:extLst/>
          </a:blip>
          <a:stretch>
            <a:fillRect/>
          </a:stretch>
        </p:blipFill>
        <p:spPr>
          <a:xfrm>
            <a:off x="4729748" y="2000071"/>
            <a:ext cx="2249154" cy="1051652"/>
          </a:xfrm>
          <a:prstGeom prst="rect">
            <a:avLst/>
          </a:prstGeom>
          <a:ln>
            <a:solidFill>
              <a:srgbClr val="000000"/>
            </a:solidFill>
          </a:ln>
        </p:spPr>
      </p:pic>
      <p:sp>
        <p:nvSpPr>
          <p:cNvPr id="366" name="TextBox 2"/>
          <p:cNvSpPr txBox="1"/>
          <p:nvPr/>
        </p:nvSpPr>
        <p:spPr>
          <a:xfrm>
            <a:off x="964418" y="1630739"/>
            <a:ext cx="1957360"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10 Weak learners</a:t>
            </a:r>
          </a:p>
        </p:txBody>
      </p:sp>
      <p:sp>
        <p:nvSpPr>
          <p:cNvPr id="367" name="TextBox 3"/>
          <p:cNvSpPr txBox="1"/>
          <p:nvPr/>
        </p:nvSpPr>
        <p:spPr>
          <a:xfrm>
            <a:off x="4875644" y="1547328"/>
            <a:ext cx="2725417"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100 Weak learners</a:t>
            </a:r>
          </a:p>
        </p:txBody>
      </p:sp>
      <p:sp>
        <p:nvSpPr>
          <p:cNvPr id="368" name="TextBox 5"/>
          <p:cNvSpPr txBox="1"/>
          <p:nvPr/>
        </p:nvSpPr>
        <p:spPr>
          <a:xfrm>
            <a:off x="8786871" y="1547328"/>
            <a:ext cx="2473234"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200 Weak learners</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0" name="Title 1"/>
          <p:cNvSpPr txBox="1"/>
          <p:nvPr>
            <p:ph type="title"/>
          </p:nvPr>
        </p:nvSpPr>
        <p:spPr>
          <a:xfrm>
            <a:off x="838200" y="180459"/>
            <a:ext cx="10515600" cy="814748"/>
          </a:xfrm>
          <a:prstGeom prst="rect">
            <a:avLst/>
          </a:prstGeom>
        </p:spPr>
        <p:txBody>
          <a:bodyPr/>
          <a:lstStyle/>
          <a:p>
            <a:pPr algn="ctr" defTabSz="585215">
              <a:defRPr sz="2496"/>
            </a:pPr>
            <a:r>
              <a:t>Detector  across im1-4.jpg, based purely on</a:t>
            </a:r>
            <a:br/>
            <a:r>
              <a:t>cross-validation accuracy metric</a:t>
            </a:r>
          </a:p>
        </p:txBody>
      </p:sp>
      <p:sp>
        <p:nvSpPr>
          <p:cNvPr id="371" name="TextBox 5"/>
          <p:cNvSpPr txBox="1"/>
          <p:nvPr/>
        </p:nvSpPr>
        <p:spPr>
          <a:xfrm>
            <a:off x="45719" y="1194290"/>
            <a:ext cx="3921762" cy="2694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SzPct val="100000"/>
              <a:buFont typeface="Arial"/>
              <a:buChar char="•"/>
              <a:defRPr sz="2400" u="sng"/>
            </a:pPr>
            <a:r>
              <a:t>Full Image → KNN</a:t>
            </a:r>
          </a:p>
          <a:p>
            <a:pPr marL="285750" indent="-285750">
              <a:buSzPct val="100000"/>
              <a:buFont typeface="Arial"/>
              <a:buChar char="•"/>
            </a:pPr>
            <a:r>
              <a:t>Using full dataset: face_all.cdataset</a:t>
            </a:r>
          </a:p>
          <a:p>
            <a:pPr marL="285750" indent="-285750">
              <a:buSzPct val="100000"/>
              <a:buFont typeface="Arial"/>
              <a:buChar char="•"/>
            </a:pPr>
            <a:r>
              <a:t>Histogram eq = OFF</a:t>
            </a:r>
          </a:p>
          <a:p>
            <a:pPr marL="285750" indent="-285750">
              <a:buSzPct val="100000"/>
              <a:buFont typeface="Arial"/>
              <a:buChar char="•"/>
            </a:pPr>
            <a:r>
              <a:t>PCA = OFF</a:t>
            </a:r>
          </a:p>
          <a:p>
            <a:pPr marL="285750" indent="-285750">
              <a:buSzPct val="100000"/>
              <a:buFont typeface="Arial"/>
              <a:buChar char="•"/>
            </a:pPr>
            <a:r>
              <a:t>K = 2 (because accuracy was highest at </a:t>
            </a:r>
            <a:r>
              <a:rPr u="sng"/>
              <a:t>98.68%</a:t>
            </a:r>
            <a:r>
              <a:t> during LOOCV test)</a:t>
            </a:r>
          </a:p>
        </p:txBody>
      </p:sp>
      <p:pic>
        <p:nvPicPr>
          <p:cNvPr id="372" name="Picture 7" descr="Picture 7"/>
          <p:cNvPicPr>
            <a:picLocks noChangeAspect="1"/>
          </p:cNvPicPr>
          <p:nvPr/>
        </p:nvPicPr>
        <p:blipFill>
          <a:blip r:embed="rId2">
            <a:extLst/>
          </a:blip>
          <a:stretch>
            <a:fillRect/>
          </a:stretch>
        </p:blipFill>
        <p:spPr>
          <a:xfrm>
            <a:off x="7889720" y="1056723"/>
            <a:ext cx="4024996" cy="1754328"/>
          </a:xfrm>
          <a:prstGeom prst="rect">
            <a:avLst/>
          </a:prstGeom>
          <a:ln w="12700">
            <a:miter lim="400000"/>
          </a:ln>
        </p:spPr>
      </p:pic>
      <p:pic>
        <p:nvPicPr>
          <p:cNvPr id="373" name="Picture 9" descr="Picture 9"/>
          <p:cNvPicPr>
            <a:picLocks noChangeAspect="1"/>
          </p:cNvPicPr>
          <p:nvPr/>
        </p:nvPicPr>
        <p:blipFill>
          <a:blip r:embed="rId3">
            <a:extLst/>
          </a:blip>
          <a:stretch>
            <a:fillRect/>
          </a:stretch>
        </p:blipFill>
        <p:spPr>
          <a:xfrm>
            <a:off x="4108663" y="1194289"/>
            <a:ext cx="3601953" cy="2667898"/>
          </a:xfrm>
          <a:prstGeom prst="rect">
            <a:avLst/>
          </a:prstGeom>
          <a:ln w="12700">
            <a:miter lim="400000"/>
          </a:ln>
        </p:spPr>
      </p:pic>
      <p:pic>
        <p:nvPicPr>
          <p:cNvPr id="374" name="Picture 11" descr="Picture 11"/>
          <p:cNvPicPr>
            <a:picLocks noChangeAspect="1"/>
          </p:cNvPicPr>
          <p:nvPr/>
        </p:nvPicPr>
        <p:blipFill>
          <a:blip r:embed="rId4">
            <a:extLst/>
          </a:blip>
          <a:stretch>
            <a:fillRect/>
          </a:stretch>
        </p:blipFill>
        <p:spPr>
          <a:xfrm>
            <a:off x="7889720" y="2823173"/>
            <a:ext cx="4024996" cy="4024996"/>
          </a:xfrm>
          <a:prstGeom prst="rect">
            <a:avLst/>
          </a:prstGeom>
          <a:ln w="12700">
            <a:miter lim="400000"/>
          </a:ln>
        </p:spPr>
      </p:pic>
      <p:pic>
        <p:nvPicPr>
          <p:cNvPr id="375" name="Picture 13" descr="Picture 13"/>
          <p:cNvPicPr>
            <a:picLocks noChangeAspect="1"/>
          </p:cNvPicPr>
          <p:nvPr/>
        </p:nvPicPr>
        <p:blipFill>
          <a:blip r:embed="rId5">
            <a:extLst/>
          </a:blip>
          <a:stretch>
            <a:fillRect/>
          </a:stretch>
        </p:blipFill>
        <p:spPr>
          <a:xfrm>
            <a:off x="668593" y="3857730"/>
            <a:ext cx="6785000" cy="2936321"/>
          </a:xfrm>
          <a:prstGeom prst="rect">
            <a:avLst/>
          </a:prstGeom>
          <a:ln w="12700">
            <a:miter lim="400000"/>
          </a:ln>
        </p:spPr>
      </p:pic>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7" name="Title 1"/>
          <p:cNvSpPr txBox="1"/>
          <p:nvPr>
            <p:ph type="title"/>
          </p:nvPr>
        </p:nvSpPr>
        <p:spPr>
          <a:xfrm>
            <a:off x="1025013" y="-165817"/>
            <a:ext cx="10515601" cy="1325563"/>
          </a:xfrm>
          <a:prstGeom prst="rect">
            <a:avLst/>
          </a:prstGeom>
        </p:spPr>
        <p:txBody>
          <a:bodyPr/>
          <a:lstStyle>
            <a:lvl1pPr defTabSz="868680">
              <a:defRPr sz="4180"/>
            </a:lvl1pPr>
          </a:lstStyle>
          <a:p>
            <a:pPr/>
            <a:r>
              <a:t>Detector  across im1-4.jpg, based on feeling</a:t>
            </a:r>
          </a:p>
        </p:txBody>
      </p:sp>
      <p:sp>
        <p:nvSpPr>
          <p:cNvPr id="378" name="TextBox 3"/>
          <p:cNvSpPr txBox="1"/>
          <p:nvPr/>
        </p:nvSpPr>
        <p:spPr>
          <a:xfrm>
            <a:off x="45719" y="1194290"/>
            <a:ext cx="3921762" cy="2694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SzPct val="100000"/>
              <a:buFont typeface="Arial"/>
              <a:buChar char="•"/>
              <a:defRPr sz="2400" u="sng"/>
            </a:pPr>
            <a:r>
              <a:t>Full Image → MLP</a:t>
            </a:r>
          </a:p>
          <a:p>
            <a:pPr marL="285750" indent="-285750">
              <a:buSzPct val="100000"/>
              <a:buFont typeface="Arial"/>
              <a:buChar char="•"/>
            </a:pPr>
            <a:r>
              <a:t>Using full dataset: face_all.cdataset</a:t>
            </a:r>
          </a:p>
          <a:p>
            <a:pPr marL="285750" indent="-285750">
              <a:buSzPct val="100000"/>
              <a:buFont typeface="Arial"/>
              <a:buChar char="•"/>
            </a:pPr>
            <a:r>
              <a:t>Histogram eq = OFF</a:t>
            </a:r>
          </a:p>
          <a:p>
            <a:pPr marL="285750" indent="-285750">
              <a:buSzPct val="100000"/>
              <a:buFont typeface="Arial"/>
              <a:buChar char="•"/>
            </a:pPr>
            <a:r>
              <a:t>Architecture: Input → Hidden (10000 neurons) → ReLU → Hidden (5000 neurons) → ReLU</a:t>
            </a:r>
          </a:p>
          <a:p>
            <a:pPr marL="285750" indent="-285750">
              <a:buSzPct val="100000"/>
              <a:buFont typeface="Arial"/>
              <a:buChar char="•"/>
            </a:pPr>
            <a:r>
              <a:t>Epochs = 30</a:t>
            </a:r>
          </a:p>
          <a:p>
            <a:pPr marL="285750" indent="-285750">
              <a:buSzPct val="100000"/>
              <a:buFont typeface="Arial"/>
              <a:buChar char="•"/>
            </a:pPr>
            <a:r>
              <a:t>Iterations per epoch = 20</a:t>
            </a:r>
          </a:p>
        </p:txBody>
      </p:sp>
      <p:pic>
        <p:nvPicPr>
          <p:cNvPr id="379" name="Picture 2" descr="Picture 2"/>
          <p:cNvPicPr>
            <a:picLocks noChangeAspect="1"/>
          </p:cNvPicPr>
          <p:nvPr/>
        </p:nvPicPr>
        <p:blipFill>
          <a:blip r:embed="rId2">
            <a:extLst/>
          </a:blip>
          <a:stretch>
            <a:fillRect/>
          </a:stretch>
        </p:blipFill>
        <p:spPr>
          <a:xfrm>
            <a:off x="8054148" y="727586"/>
            <a:ext cx="4097448" cy="1799665"/>
          </a:xfrm>
          <a:prstGeom prst="rect">
            <a:avLst/>
          </a:prstGeom>
          <a:ln w="12700">
            <a:miter lim="400000"/>
          </a:ln>
        </p:spPr>
      </p:pic>
      <p:pic>
        <p:nvPicPr>
          <p:cNvPr id="380" name="Picture 4" descr="Picture 4"/>
          <p:cNvPicPr>
            <a:picLocks noChangeAspect="1"/>
          </p:cNvPicPr>
          <p:nvPr/>
        </p:nvPicPr>
        <p:blipFill>
          <a:blip r:embed="rId3">
            <a:extLst/>
          </a:blip>
          <a:stretch>
            <a:fillRect/>
          </a:stretch>
        </p:blipFill>
        <p:spPr>
          <a:xfrm>
            <a:off x="4101836" y="717459"/>
            <a:ext cx="3833334" cy="2837074"/>
          </a:xfrm>
          <a:prstGeom prst="rect">
            <a:avLst/>
          </a:prstGeom>
          <a:ln w="12700">
            <a:miter lim="400000"/>
          </a:ln>
        </p:spPr>
      </p:pic>
      <p:pic>
        <p:nvPicPr>
          <p:cNvPr id="381" name="Picture 6" descr="Picture 6"/>
          <p:cNvPicPr>
            <a:picLocks noChangeAspect="1"/>
          </p:cNvPicPr>
          <p:nvPr/>
        </p:nvPicPr>
        <p:blipFill>
          <a:blip r:embed="rId4">
            <a:extLst/>
          </a:blip>
          <a:stretch>
            <a:fillRect/>
          </a:stretch>
        </p:blipFill>
        <p:spPr>
          <a:xfrm>
            <a:off x="8051372" y="2527250"/>
            <a:ext cx="4140628" cy="4140628"/>
          </a:xfrm>
          <a:prstGeom prst="rect">
            <a:avLst/>
          </a:prstGeom>
          <a:ln w="12700">
            <a:miter lim="400000"/>
          </a:ln>
        </p:spPr>
      </p:pic>
      <p:pic>
        <p:nvPicPr>
          <p:cNvPr id="382" name="Picture 8" descr="Picture 8"/>
          <p:cNvPicPr>
            <a:picLocks noChangeAspect="1"/>
          </p:cNvPicPr>
          <p:nvPr/>
        </p:nvPicPr>
        <p:blipFill>
          <a:blip r:embed="rId5">
            <a:extLst/>
          </a:blip>
          <a:stretch>
            <a:fillRect/>
          </a:stretch>
        </p:blipFill>
        <p:spPr>
          <a:xfrm>
            <a:off x="273386" y="3525720"/>
            <a:ext cx="7641582" cy="3266402"/>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